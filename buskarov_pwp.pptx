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7" r:id="rId10"/>
    <p:sldId id="266" r:id="rId11"/>
    <p:sldId id="265" r:id="rId1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400" rtl="0" fontAlgn="auto" latinLnBrk="0" hangingPunct="0">
      <a:lnSpc>
        <a:spcPct val="9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1pPr>
    <a:lvl2pPr marL="0" marR="0" indent="457200" algn="ctr" defTabSz="2438400" rtl="0" fontAlgn="auto" latinLnBrk="0" hangingPunct="0">
      <a:lnSpc>
        <a:spcPct val="9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2pPr>
    <a:lvl3pPr marL="0" marR="0" indent="914400" algn="ctr" defTabSz="2438400" rtl="0" fontAlgn="auto" latinLnBrk="0" hangingPunct="0">
      <a:lnSpc>
        <a:spcPct val="9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3pPr>
    <a:lvl4pPr marL="0" marR="0" indent="1371600" algn="ctr" defTabSz="2438400" rtl="0" fontAlgn="auto" latinLnBrk="0" hangingPunct="0">
      <a:lnSpc>
        <a:spcPct val="9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4pPr>
    <a:lvl5pPr marL="0" marR="0" indent="1828800" algn="ctr" defTabSz="2438400" rtl="0" fontAlgn="auto" latinLnBrk="0" hangingPunct="0">
      <a:lnSpc>
        <a:spcPct val="9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5pPr>
    <a:lvl6pPr marL="0" marR="0" indent="2286000" algn="ctr" defTabSz="2438400" rtl="0" fontAlgn="auto" latinLnBrk="0" hangingPunct="0">
      <a:lnSpc>
        <a:spcPct val="9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6pPr>
    <a:lvl7pPr marL="0" marR="0" indent="2743200" algn="ctr" defTabSz="2438400" rtl="0" fontAlgn="auto" latinLnBrk="0" hangingPunct="0">
      <a:lnSpc>
        <a:spcPct val="9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7pPr>
    <a:lvl8pPr marL="0" marR="0" indent="3200400" algn="ctr" defTabSz="2438400" rtl="0" fontAlgn="auto" latinLnBrk="0" hangingPunct="0">
      <a:lnSpc>
        <a:spcPct val="9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8pPr>
    <a:lvl9pPr marL="0" marR="0" indent="3657600" algn="ctr" defTabSz="2438400" rtl="0" fontAlgn="auto" latinLnBrk="0" hangingPunct="0">
      <a:lnSpc>
        <a:spcPct val="9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nela Text Regular"/>
        <a:ea typeface="Canela Text Regular"/>
        <a:cs typeface="Canela Text Regular"/>
        <a:sym typeface="Canela Text Regular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venir Next Regular"/>
          <a:ea typeface="Avenir Next Regular"/>
          <a:cs typeface="Avenir Next Regular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Avenir Next Regular"/>
          <a:ea typeface="Avenir Next Regular"/>
          <a:cs typeface="Avenir Next Regular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Avenir Next Regular"/>
          <a:ea typeface="Avenir Next Regular"/>
          <a:cs typeface="Avenir Next Regular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hueOff val="-217956"/>
              <a:satOff val="14368"/>
              <a:lumOff val="17764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venir Next Regular"/>
          <a:ea typeface="Avenir Next Regular"/>
          <a:cs typeface="Avenir Next Regular"/>
        </a:font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CEEEE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571091"/>
              <a:satOff val="15926"/>
              <a:lumOff val="22314"/>
            </a:schemeClr>
          </a:solidFill>
        </a:fill>
      </a:tcStyle>
    </a:firstCol>
    <a:lastRow>
      <a:tcTxStyle b="off" i="off">
        <a:font>
          <a:latin typeface="Avenir Next Regular"/>
          <a:ea typeface="Avenir Next Regular"/>
          <a:cs typeface="Avenir Next Regular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45B43B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45B43B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venir Next Regular"/>
          <a:ea typeface="Avenir Next Regular"/>
          <a:cs typeface="Avenir Next Regular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9036"/>
              <a:lumOff val="17111"/>
            </a:schemeClr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BD17"/>
          </a:solidFill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FBD17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8A2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venir Next Regular"/>
          <a:ea typeface="Avenir Next Regular"/>
          <a:cs typeface="Avenir Next Regular"/>
        </a:font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CEEEF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32C5B9"/>
          </a:solidFill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2">
                  <a:hueOff val="240640"/>
                  <a:satOff val="2542"/>
                  <a:lumOff val="-13198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chemeClr val="accent2">
              <a:hueOff val="240640"/>
              <a:satOff val="2542"/>
              <a:lumOff val="-13198"/>
            </a:schemeClr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venir Next Regular"/>
          <a:ea typeface="Avenir Next Regular"/>
          <a:cs typeface="Avenir Next Regular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F"/>
          </a:solidFill>
        </a:fill>
      </a:tcStyle>
    </a:band2H>
    <a:firstCol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Avenir Next Demi Bold"/>
          <a:ea typeface="Avenir Next Demi Bold"/>
          <a:cs typeface="Avenir Next Demi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6" d="100"/>
          <a:sy n="36" d="100"/>
        </p:scale>
        <p:origin x="852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9" name="Shape 14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Автор и дата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11986162"/>
            <a:ext cx="21945599" cy="605791"/>
          </a:xfrm>
          <a:prstGeom prst="rect">
            <a:avLst/>
          </a:prstGeom>
        </p:spPr>
        <p:txBody>
          <a:bodyPr/>
          <a:lstStyle>
            <a:lvl1pPr marL="0" indent="0" algn="ctr" defTabSz="808990">
              <a:lnSpc>
                <a:spcPct val="100000"/>
              </a:lnSpc>
              <a:spcBef>
                <a:spcPts val="0"/>
              </a:spcBef>
              <a:buSzTx/>
              <a:buNone/>
              <a:defRPr sz="2940" spc="-29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Автор и дата</a:t>
            </a:r>
          </a:p>
        </p:txBody>
      </p:sp>
      <p:sp>
        <p:nvSpPr>
          <p:cNvPr id="1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19200" y="3543300"/>
            <a:ext cx="21945600" cy="4267200"/>
          </a:xfrm>
          <a:prstGeom prst="rect">
            <a:avLst/>
          </a:prstGeom>
        </p:spPr>
        <p:txBody>
          <a:bodyPr anchor="b"/>
          <a:lstStyle>
            <a:lvl1pPr>
              <a:defRPr sz="12800" spc="-128"/>
            </a:lvl1pPr>
          </a:lstStyle>
          <a:p>
            <a:r>
              <a:t>Заголовок презентации</a:t>
            </a:r>
          </a:p>
        </p:txBody>
      </p:sp>
      <p:sp>
        <p:nvSpPr>
          <p:cNvPr id="1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19200" y="7567579"/>
            <a:ext cx="21945600" cy="2250593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  <a:lvl2pPr marL="0" indent="4572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2pPr>
            <a:lvl3pPr marL="0" indent="9144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3pPr>
            <a:lvl4pPr marL="0" indent="13716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4pPr>
            <a:lvl5pPr marL="0" indent="18288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5pPr>
          </a:lstStyle>
          <a:p>
            <a:r>
              <a:t>Подзаголовок презентации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1339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ляж и море на закате"/>
          <p:cNvSpPr>
            <a:spLocks noGrp="1"/>
          </p:cNvSpPr>
          <p:nvPr>
            <p:ph type="pic" idx="21"/>
          </p:nvPr>
        </p:nvSpPr>
        <p:spPr>
          <a:xfrm>
            <a:off x="0" y="-1270000"/>
            <a:ext cx="24384000" cy="1625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19200" y="3543300"/>
            <a:ext cx="21945600" cy="4267200"/>
          </a:xfrm>
          <a:prstGeom prst="rect">
            <a:avLst/>
          </a:prstGeom>
        </p:spPr>
        <p:txBody>
          <a:bodyPr anchor="b"/>
          <a:lstStyle>
            <a:lvl1pPr>
              <a:defRPr sz="12800" spc="-128">
                <a:solidFill>
                  <a:srgbClr val="FFFFFF"/>
                </a:solidFill>
              </a:defRPr>
            </a:lvl1pPr>
          </a:lstStyle>
          <a:p>
            <a:r>
              <a:t>Заголовок презентации</a:t>
            </a:r>
          </a:p>
        </p:txBody>
      </p:sp>
      <p:sp>
        <p:nvSpPr>
          <p:cNvPr id="2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19200" y="7569200"/>
            <a:ext cx="21945600" cy="2252112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  <a:lvl2pPr marL="0" indent="4572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2pPr>
            <a:lvl3pPr marL="0" indent="9144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3pPr>
            <a:lvl4pPr marL="0" indent="13716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4pPr>
            <a:lvl5pPr marL="0" indent="18288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6000" spc="-59">
                <a:solidFill>
                  <a:srgbClr val="FFFFFF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5pPr>
          </a:lstStyle>
          <a:p>
            <a:r>
              <a:t>Подзаголовок презентации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Автор и дата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19200" y="11988800"/>
            <a:ext cx="21945602" cy="605791"/>
          </a:xfrm>
          <a:prstGeom prst="rect">
            <a:avLst/>
          </a:prstGeom>
        </p:spPr>
        <p:txBody>
          <a:bodyPr/>
          <a:lstStyle>
            <a:lvl1pPr marL="0" indent="0" algn="ctr" defTabSz="808990">
              <a:lnSpc>
                <a:spcPct val="100000"/>
              </a:lnSpc>
              <a:spcBef>
                <a:spcPts val="0"/>
              </a:spcBef>
              <a:buSzTx/>
              <a:buNone/>
              <a:defRPr sz="2940" spc="-29">
                <a:solidFill>
                  <a:srgbClr val="FFFFFF"/>
                </a:solidFill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Автор и дата</a:t>
            </a:r>
          </a:p>
        </p:txBody>
      </p:sp>
      <p:sp>
        <p:nvSpPr>
          <p:cNvPr id="2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 (вариант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15495" y="4585102"/>
            <a:ext cx="9757338" cy="2540001"/>
          </a:xfrm>
          <a:prstGeom prst="rect">
            <a:avLst/>
          </a:prstGeom>
        </p:spPr>
        <p:txBody>
          <a:bodyPr anchor="b"/>
          <a:lstStyle/>
          <a:p>
            <a:r>
              <a:t>Заголовок слайда</a:t>
            </a:r>
          </a:p>
        </p:txBody>
      </p:sp>
      <p:sp>
        <p:nvSpPr>
          <p:cNvPr id="33" name="Море и небо на закате"/>
          <p:cNvSpPr>
            <a:spLocks noGrp="1"/>
          </p:cNvSpPr>
          <p:nvPr>
            <p:ph type="pic" idx="21"/>
          </p:nvPr>
        </p:nvSpPr>
        <p:spPr>
          <a:xfrm>
            <a:off x="9283700" y="1270000"/>
            <a:ext cx="16751300" cy="1117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19200" y="7016750"/>
            <a:ext cx="9753600" cy="5416550"/>
          </a:xfrm>
          <a:prstGeom prst="rect">
            <a:avLst/>
          </a:prstGeom>
        </p:spPr>
        <p:txBody>
          <a:bodyPr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  <a:lvl2pPr marL="0" indent="4572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2pPr>
            <a:lvl3pPr marL="0" indent="9144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3pPr>
            <a:lvl4pPr marL="0" indent="13716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4pPr>
            <a:lvl5pPr marL="0" indent="182880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pc="-44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Заголовок слайда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Подзаголовок слайда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2384648"/>
            <a:ext cx="21945602" cy="832613"/>
          </a:xfrm>
          <a:prstGeom prst="rect">
            <a:avLst/>
          </a:prstGeom>
        </p:spPr>
        <p:txBody>
          <a:bodyPr/>
          <a:lstStyle>
            <a:lvl1pPr marL="0" indent="0" algn="ctr" defTabSz="792479">
              <a:lnSpc>
                <a:spcPct val="100000"/>
              </a:lnSpc>
              <a:spcBef>
                <a:spcPts val="0"/>
              </a:spcBef>
              <a:buSzTx/>
              <a:buNone/>
              <a:defRPr sz="4224" spc="-42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Подзаголовок слайда</a:t>
            </a:r>
          </a:p>
        </p:txBody>
      </p:sp>
      <p:sp>
        <p:nvSpPr>
          <p:cNvPr id="4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19200" y="4013200"/>
            <a:ext cx="21945600" cy="8487148"/>
          </a:xfrm>
          <a:prstGeom prst="rect">
            <a:avLst/>
          </a:prstGeom>
        </p:spPr>
        <p:txBody>
          <a:bodyPr numCol="2" spcCol="2558384"/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1339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19200" y="774700"/>
            <a:ext cx="9753600" cy="1600200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61" name="Море и небо на закате"/>
          <p:cNvSpPr>
            <a:spLocks noGrp="1"/>
          </p:cNvSpPr>
          <p:nvPr>
            <p:ph type="pic" idx="21"/>
          </p:nvPr>
        </p:nvSpPr>
        <p:spPr>
          <a:xfrm>
            <a:off x="12192644" y="718588"/>
            <a:ext cx="10972801" cy="1232962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2" name="Подзаголовок слайда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19200" y="2387600"/>
            <a:ext cx="9757569" cy="832612"/>
          </a:xfrm>
          <a:prstGeom prst="rect">
            <a:avLst/>
          </a:prstGeom>
        </p:spPr>
        <p:txBody>
          <a:bodyPr/>
          <a:lstStyle>
            <a:lvl1pPr marL="0" indent="0" algn="ctr" defTabSz="792479">
              <a:lnSpc>
                <a:spcPct val="100000"/>
              </a:lnSpc>
              <a:spcBef>
                <a:spcPts val="0"/>
              </a:spcBef>
              <a:buSzTx/>
              <a:buNone/>
              <a:defRPr sz="4224" spc="-42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Подзаголовок слайда</a:t>
            </a:r>
          </a:p>
        </p:txBody>
      </p:sp>
      <p:sp>
        <p:nvSpPr>
          <p:cNvPr id="63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19200" y="4023221"/>
            <a:ext cx="9757569" cy="8384679"/>
          </a:xfrm>
          <a:prstGeom prst="rect">
            <a:avLst/>
          </a:prstGeom>
        </p:spPr>
        <p:txBody>
          <a:bodyPr/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3880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Разде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Заголовок раздела"/>
          <p:cNvSpPr txBox="1">
            <a:spLocks noGrp="1"/>
          </p:cNvSpPr>
          <p:nvPr>
            <p:ph type="title" hasCustomPrompt="1"/>
          </p:nvPr>
        </p:nvSpPr>
        <p:spPr>
          <a:xfrm>
            <a:off x="1219200" y="3242270"/>
            <a:ext cx="21945600" cy="6604001"/>
          </a:xfrm>
          <a:prstGeom prst="rect">
            <a:avLst/>
          </a:prstGeom>
        </p:spPr>
        <p:txBody>
          <a:bodyPr anchor="ctr"/>
          <a:lstStyle>
            <a:lvl1pPr>
              <a:defRPr sz="12800" spc="0"/>
            </a:lvl1pPr>
          </a:lstStyle>
          <a:p>
            <a:r>
              <a:t>Заголовок раздела</a:t>
            </a:r>
          </a:p>
        </p:txBody>
      </p:sp>
      <p:sp>
        <p:nvSpPr>
          <p:cNvPr id="7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1339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Заголовок слайда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80" name="Подзаголовок слайда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2384648"/>
            <a:ext cx="21945602" cy="832613"/>
          </a:xfrm>
          <a:prstGeom prst="rect">
            <a:avLst/>
          </a:prstGeom>
        </p:spPr>
        <p:txBody>
          <a:bodyPr/>
          <a:lstStyle>
            <a:lvl1pPr marL="0" indent="0" algn="ctr" defTabSz="792479">
              <a:lnSpc>
                <a:spcPct val="100000"/>
              </a:lnSpc>
              <a:spcBef>
                <a:spcPts val="0"/>
              </a:spcBef>
              <a:buSzTx/>
              <a:buNone/>
              <a:defRPr sz="4224" spc="-42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Подзаголовок слайда</a:t>
            </a:r>
          </a:p>
        </p:txBody>
      </p:sp>
      <p:sp>
        <p:nvSpPr>
          <p:cNvPr id="81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1339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овестка д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Заголовок повестки дня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Заголовок повестки дня</a:t>
            </a:r>
          </a:p>
        </p:txBody>
      </p:sp>
      <p:sp>
        <p:nvSpPr>
          <p:cNvPr id="89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19200" y="4013200"/>
            <a:ext cx="21945600" cy="8385548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1pPr>
            <a:lvl2pPr marL="0" indent="45720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2pPr>
            <a:lvl3pPr marL="0" indent="91440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3pPr>
            <a:lvl4pPr marL="0" indent="137160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4pPr>
            <a:lvl5pPr marL="0" indent="1828800" defTabSz="825500">
              <a:lnSpc>
                <a:spcPct val="100000"/>
              </a:lnSpc>
              <a:buSzTx/>
              <a:buNone/>
              <a:defRPr sz="6800" spc="-136">
                <a:latin typeface="Canela Deck Regular"/>
                <a:ea typeface="Canela Deck Regular"/>
                <a:cs typeface="Canela Deck Regular"/>
                <a:sym typeface="Canela Deck Regular"/>
              </a:defRPr>
            </a:lvl5pPr>
          </a:lstStyle>
          <a:p>
            <a:r>
              <a:t>Темы повестки дня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0" name="Подзаголовок повестки дня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2387115"/>
            <a:ext cx="21945602" cy="832613"/>
          </a:xfrm>
          <a:prstGeom prst="rect">
            <a:avLst/>
          </a:prstGeom>
        </p:spPr>
        <p:txBody>
          <a:bodyPr/>
          <a:lstStyle>
            <a:lvl1pPr marL="0" indent="0" algn="ctr" defTabSz="792479">
              <a:lnSpc>
                <a:spcPct val="100000"/>
              </a:lnSpc>
              <a:spcBef>
                <a:spcPts val="0"/>
              </a:spcBef>
              <a:buSzTx/>
              <a:buNone/>
              <a:defRPr sz="4224" spc="-42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Подзаголовок повестки дня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1339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Информационное сообщ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19200" y="3251200"/>
            <a:ext cx="21945600" cy="6604000"/>
          </a:xfrm>
          <a:prstGeom prst="rect">
            <a:avLst/>
          </a:prstGeom>
        </p:spPr>
        <p:txBody>
          <a:bodyPr anchor="ctr"/>
          <a:lstStyle>
            <a:lvl1pPr marL="0" indent="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1pPr>
            <a:lvl2pPr marL="0" indent="4572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2pPr>
            <a:lvl3pPr marL="0" indent="9144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3pPr>
            <a:lvl4pPr marL="0" indent="13716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4pPr>
            <a:lvl5pPr marL="0" indent="18288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12800">
                <a:latin typeface="Canela Regular"/>
                <a:ea typeface="Canela Regular"/>
                <a:cs typeface="Canela Regular"/>
                <a:sym typeface="Canela Regular"/>
              </a:defRPr>
            </a:lvl5pPr>
          </a:lstStyle>
          <a:p>
            <a:r>
              <a:t>Информационное сообщение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Важный фа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Информация о факте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8462239"/>
            <a:ext cx="21945602" cy="832613"/>
          </a:xfrm>
          <a:prstGeom prst="rect">
            <a:avLst/>
          </a:prstGeom>
        </p:spPr>
        <p:txBody>
          <a:bodyPr/>
          <a:lstStyle>
            <a:lvl1pPr marL="0" indent="0" algn="ctr" defTabSz="792479">
              <a:lnSpc>
                <a:spcPct val="100000"/>
              </a:lnSpc>
              <a:spcBef>
                <a:spcPts val="0"/>
              </a:spcBef>
              <a:buSzTx/>
              <a:buNone/>
              <a:defRPr sz="4224" spc="-42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Информация о факте</a:t>
            </a:r>
          </a:p>
        </p:txBody>
      </p:sp>
      <p:sp>
        <p:nvSpPr>
          <p:cNvPr id="107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19200" y="4214484"/>
            <a:ext cx="21945600" cy="4269708"/>
          </a:xfrm>
          <a:prstGeom prst="rect">
            <a:avLst/>
          </a:prstGeom>
        </p:spPr>
        <p:txBody>
          <a:bodyPr anchor="b"/>
          <a:lstStyle>
            <a:lvl1pPr marL="0" indent="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1pPr>
            <a:lvl2pPr marL="0" indent="4572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2pPr>
            <a:lvl3pPr marL="0" indent="9144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3pPr>
            <a:lvl4pPr marL="0" indent="13716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4pPr>
            <a:lvl5pPr marL="0" indent="18288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22400">
                <a:latin typeface="+mn-lt"/>
                <a:ea typeface="+mn-ea"/>
                <a:cs typeface="+mn-cs"/>
                <a:sym typeface="Canela Bold"/>
              </a:defRPr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Цита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Авторство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11100053"/>
            <a:ext cx="21945602" cy="832613"/>
          </a:xfrm>
          <a:prstGeom prst="rect">
            <a:avLst/>
          </a:prstGeom>
        </p:spPr>
        <p:txBody>
          <a:bodyPr anchor="ctr"/>
          <a:lstStyle>
            <a:lvl1pPr marL="0" indent="0" algn="ctr" defTabSz="792479">
              <a:lnSpc>
                <a:spcPct val="100000"/>
              </a:lnSpc>
              <a:spcBef>
                <a:spcPts val="0"/>
              </a:spcBef>
              <a:buSzTx/>
              <a:buNone/>
              <a:defRPr sz="4224" spc="-42"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Авторство</a:t>
            </a:r>
          </a:p>
        </p:txBody>
      </p:sp>
      <p:sp>
        <p:nvSpPr>
          <p:cNvPr id="116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19200" y="4178300"/>
            <a:ext cx="21945600" cy="4416425"/>
          </a:xfrm>
          <a:prstGeom prst="rect">
            <a:avLst/>
          </a:prstGeom>
        </p:spPr>
        <p:txBody>
          <a:bodyPr anchor="ctr"/>
          <a:lstStyle>
            <a:lvl1pPr marL="0" indent="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1pPr>
            <a:lvl2pPr marL="0" indent="4572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2pPr>
            <a:lvl3pPr marL="0" indent="9144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3pPr>
            <a:lvl4pPr marL="0" indent="13716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4pPr>
            <a:lvl5pPr marL="0" indent="1828800" algn="ctr" defTabSz="2438400">
              <a:lnSpc>
                <a:spcPct val="80000"/>
              </a:lnSpc>
              <a:spcBef>
                <a:spcPts val="0"/>
              </a:spcBef>
              <a:buSzTx/>
              <a:buNone/>
              <a:defRPr sz="8400">
                <a:latin typeface="+mn-lt"/>
                <a:ea typeface="+mn-ea"/>
                <a:cs typeface="+mn-cs"/>
                <a:sym typeface="Canela Bold"/>
              </a:defRPr>
            </a:lvl5pPr>
          </a:lstStyle>
          <a:p>
            <a:r>
              <a:t>«Важная цитата»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1339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 (3 шт.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Море и небо на закате 2"/>
          <p:cNvSpPr>
            <a:spLocks noGrp="1"/>
          </p:cNvSpPr>
          <p:nvPr>
            <p:ph type="pic" sz="quarter" idx="21"/>
          </p:nvPr>
        </p:nvSpPr>
        <p:spPr>
          <a:xfrm>
            <a:off x="15744825" y="5581752"/>
            <a:ext cx="7365408" cy="82804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5" name="Море и небо на закате 1"/>
          <p:cNvSpPr>
            <a:spLocks noGrp="1"/>
          </p:cNvSpPr>
          <p:nvPr>
            <p:ph type="pic" sz="quarter" idx="22"/>
          </p:nvPr>
        </p:nvSpPr>
        <p:spPr>
          <a:xfrm>
            <a:off x="15363825" y="1270000"/>
            <a:ext cx="8115300" cy="540900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Пляж и море на закате"/>
          <p:cNvSpPr>
            <a:spLocks noGrp="1"/>
          </p:cNvSpPr>
          <p:nvPr>
            <p:ph type="pic" idx="23"/>
          </p:nvPr>
        </p:nvSpPr>
        <p:spPr>
          <a:xfrm>
            <a:off x="-63500" y="1270000"/>
            <a:ext cx="16764000" cy="1117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1339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пляж и море на закате"/>
          <p:cNvSpPr>
            <a:spLocks noGrp="1"/>
          </p:cNvSpPr>
          <p:nvPr>
            <p:ph type="pic" idx="21"/>
          </p:nvPr>
        </p:nvSpPr>
        <p:spPr>
          <a:xfrm>
            <a:off x="1270000" y="-423334"/>
            <a:ext cx="21844000" cy="145626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1339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91339" y="12684760"/>
            <a:ext cx="408941" cy="4445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19200" y="774700"/>
            <a:ext cx="21945600" cy="172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Заголовок слайда</a:t>
            </a:r>
          </a:p>
        </p:txBody>
      </p:sp>
      <p:sp>
        <p:nvSpPr>
          <p:cNvPr id="3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19200" y="4013200"/>
            <a:ext cx="21948577" cy="8483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87530" y="12684760"/>
            <a:ext cx="408941" cy="44450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lnSpc>
                <a:spcPct val="100000"/>
              </a:lnSpc>
              <a:defRPr sz="2000">
                <a:solidFill>
                  <a:srgbClr val="5E5E5E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ransition spd="med"/>
  <p:txStyles>
    <p:titleStyle>
      <a:lvl1pPr marL="0" marR="0" indent="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1pPr>
      <a:lvl2pPr marL="0" marR="0" indent="4572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2pPr>
      <a:lvl3pPr marL="0" marR="0" indent="9144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3pPr>
      <a:lvl4pPr marL="0" marR="0" indent="13716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4pPr>
      <a:lvl5pPr marL="0" marR="0" indent="18288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5pPr>
      <a:lvl6pPr marL="0" marR="0" indent="22860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6pPr>
      <a:lvl7pPr marL="0" marR="0" indent="27432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7pPr>
      <a:lvl8pPr marL="0" marR="0" indent="32004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8pPr>
      <a:lvl9pPr marL="0" marR="0" indent="3657600" algn="ctr" defTabSz="2438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400" b="0" i="0" u="none" strike="noStrike" cap="none" spc="-84" baseline="0">
          <a:solidFill>
            <a:srgbClr val="000000"/>
          </a:solidFill>
          <a:uFillTx/>
          <a:latin typeface="+mn-lt"/>
          <a:ea typeface="+mn-ea"/>
          <a:cs typeface="+mn-cs"/>
          <a:sym typeface="Canela Bold"/>
        </a:defRPr>
      </a:lvl9pPr>
    </p:titleStyle>
    <p:bodyStyle>
      <a:lvl1pPr marL="5461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1pPr>
      <a:lvl2pPr marL="10922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2pPr>
      <a:lvl3pPr marL="16383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3pPr>
      <a:lvl4pPr marL="21844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4pPr>
      <a:lvl5pPr marL="27305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5pPr>
      <a:lvl6pPr marL="32766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6pPr>
      <a:lvl7pPr marL="38227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7pPr>
      <a:lvl8pPr marL="43688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8pPr>
      <a:lvl9pPr marL="4914900" marR="0" indent="-546100" algn="l" defTabSz="2438338" rtl="0" latinLnBrk="0">
        <a:lnSpc>
          <a:spcPct val="90000"/>
        </a:lnSpc>
        <a:spcBef>
          <a:spcPts val="2400"/>
        </a:spcBef>
        <a:spcAft>
          <a:spcPts val="0"/>
        </a:spcAft>
        <a:buClrTx/>
        <a:buSzPct val="150000"/>
        <a:buFontTx/>
        <a:buChar char="•"/>
        <a:tabLst/>
        <a:defRPr sz="4400" b="0" i="0" u="none" strike="noStrike" cap="none" spc="0" baseline="0">
          <a:solidFill>
            <a:srgbClr val="000000"/>
          </a:solidFill>
          <a:uFillTx/>
          <a:latin typeface="Canela Text Regular"/>
          <a:ea typeface="Canela Text Regular"/>
          <a:cs typeface="Canela Text Regular"/>
          <a:sym typeface="Canela Text Regular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venir Next Regula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Бускаров Александр ИСИП 23/1"/>
          <p:cNvSpPr txBox="1">
            <a:spLocks noGrp="1"/>
          </p:cNvSpPr>
          <p:nvPr>
            <p:ph type="body" idx="21"/>
          </p:nvPr>
        </p:nvSpPr>
        <p:spPr>
          <a:xfrm>
            <a:off x="15245862" y="9214339"/>
            <a:ext cx="7918937" cy="225059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/>
          </a:bodyPr>
          <a:lstStyle>
            <a:lvl1pPr defTabSz="817244">
              <a:defRPr sz="3564" spc="-35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ru-RU" sz="3600" dirty="0"/>
              <a:t>Выполнено</a:t>
            </a:r>
            <a:r>
              <a:rPr lang="en-US" sz="3600" dirty="0"/>
              <a:t>: </a:t>
            </a:r>
            <a:r>
              <a:rPr lang="ru-RU" sz="3600" dirty="0"/>
              <a:t>студент </a:t>
            </a:r>
            <a:r>
              <a:rPr sz="3600" dirty="0" err="1"/>
              <a:t>Бускаров</a:t>
            </a:r>
            <a:r>
              <a:rPr sz="3600" dirty="0"/>
              <a:t> </a:t>
            </a:r>
            <a:r>
              <a:rPr lang="ru-RU" sz="3600" dirty="0"/>
              <a:t>А.Л.</a:t>
            </a:r>
            <a:r>
              <a:rPr sz="3600" dirty="0"/>
              <a:t> ИСИП 23/1 </a:t>
            </a:r>
            <a:endParaRPr lang="ru-RU" sz="3600" dirty="0"/>
          </a:p>
          <a:p>
            <a:r>
              <a:rPr lang="ru-RU" sz="3600" dirty="0"/>
              <a:t>Проверено: Н.А. Федоров</a:t>
            </a:r>
            <a:endParaRPr sz="3600" dirty="0"/>
          </a:p>
        </p:txBody>
      </p:sp>
      <p:sp>
        <p:nvSpPr>
          <p:cNvPr id="152" name="Курсовая Работа «Cook GO»"/>
          <p:cNvSpPr txBox="1">
            <a:spLocks noGrp="1"/>
          </p:cNvSpPr>
          <p:nvPr>
            <p:ph type="ctrTitle"/>
          </p:nvPr>
        </p:nvSpPr>
        <p:spPr>
          <a:xfrm>
            <a:off x="7667468" y="5878159"/>
            <a:ext cx="9049065" cy="971104"/>
          </a:xfrm>
          <a:prstGeom prst="rect">
            <a:avLst/>
          </a:prstGeom>
        </p:spPr>
        <p:txBody>
          <a:bodyPr/>
          <a:lstStyle>
            <a:lvl1pPr>
              <a:defRPr sz="4400" b="1" spc="-44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Курсовая Работа «Cook GO»</a:t>
            </a:r>
          </a:p>
        </p:txBody>
      </p:sp>
      <p:sp>
        <p:nvSpPr>
          <p:cNvPr id="153" name="Министерство образования и науки Республики Саха(Якутия) ГАПОУ РС(Я) «Якутский колледж связи и информационных технологий имени П.И. Дудкина»"/>
          <p:cNvSpPr txBox="1">
            <a:spLocks noGrp="1"/>
          </p:cNvSpPr>
          <p:nvPr>
            <p:ph type="subTitle" sz="quarter" idx="1"/>
          </p:nvPr>
        </p:nvSpPr>
        <p:spPr>
          <a:xfrm>
            <a:off x="1219200" y="981096"/>
            <a:ext cx="21945600" cy="2250593"/>
          </a:xfrm>
          <a:prstGeom prst="rect">
            <a:avLst/>
          </a:prstGeom>
        </p:spPr>
        <p:txBody>
          <a:bodyPr/>
          <a:lstStyle>
            <a:lvl1pPr>
              <a:defRPr sz="3600" spc="-36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Министерство образования и науки Республики Саха(Якутия) ГАПОУ РС(Я) «Якутский колледж связи и информационных технологий имени П.И. Дудкина»</a:t>
            </a:r>
          </a:p>
        </p:txBody>
      </p:sp>
      <p:sp>
        <p:nvSpPr>
          <p:cNvPr id="154" name="Проектирование и разработка сайта для поиска кулинарных рецептов"/>
          <p:cNvSpPr txBox="1"/>
          <p:nvPr/>
        </p:nvSpPr>
        <p:spPr>
          <a:xfrm>
            <a:off x="1219200" y="7275950"/>
            <a:ext cx="21945600" cy="2250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defTabSz="825500">
              <a:lnSpc>
                <a:spcPct val="100000"/>
              </a:lnSpc>
              <a:defRPr sz="3600" spc="-36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 err="1"/>
              <a:t>Проектирование</a:t>
            </a:r>
            <a:r>
              <a:rPr dirty="0"/>
              <a:t> и </a:t>
            </a:r>
            <a:r>
              <a:rPr dirty="0" err="1"/>
              <a:t>разработка</a:t>
            </a:r>
            <a:r>
              <a:rPr dirty="0"/>
              <a:t> </a:t>
            </a:r>
            <a:r>
              <a:rPr dirty="0" err="1"/>
              <a:t>сайта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поиска</a:t>
            </a:r>
            <a:r>
              <a:rPr dirty="0"/>
              <a:t> </a:t>
            </a:r>
            <a:r>
              <a:rPr dirty="0" err="1"/>
              <a:t>кулинарных</a:t>
            </a:r>
            <a:r>
              <a:rPr dirty="0"/>
              <a:t> </a:t>
            </a:r>
            <a:r>
              <a:rPr dirty="0" err="1"/>
              <a:t>рецептов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01BE93-3D8B-473E-8B7F-2EFB1131C7E9}"/>
              </a:ext>
            </a:extLst>
          </p:cNvPr>
          <p:cNvSpPr txBox="1"/>
          <p:nvPr/>
        </p:nvSpPr>
        <p:spPr>
          <a:xfrm>
            <a:off x="10181492" y="12457044"/>
            <a:ext cx="2866293" cy="6011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 panose="020B0604020202020204" pitchFamily="34" charset="0"/>
                <a:cs typeface="Arial" panose="020B0604020202020204" pitchFamily="34" charset="0"/>
                <a:sym typeface="Canela Text Regular"/>
              </a:rPr>
              <a:t>Якутск 2026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Решение"/>
          <p:cNvSpPr txBox="1">
            <a:spLocks noGrp="1"/>
          </p:cNvSpPr>
          <p:nvPr>
            <p:ph type="body" idx="21"/>
          </p:nvPr>
        </p:nvSpPr>
        <p:spPr>
          <a:xfrm>
            <a:off x="1244600" y="7998289"/>
            <a:ext cx="3099468" cy="60579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>
            <a:lvl1pPr algn="l" defTabSz="817244">
              <a:defRPr sz="3564" b="1" spc="-35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Решение</a:t>
            </a:r>
          </a:p>
        </p:txBody>
      </p:sp>
      <p:sp>
        <p:nvSpPr>
          <p:cNvPr id="159" name="Текст"/>
          <p:cNvSpPr txBox="1"/>
          <p:nvPr/>
        </p:nvSpPr>
        <p:spPr>
          <a:xfrm>
            <a:off x="15035784" y="-487427"/>
            <a:ext cx="1270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160" name="счастливая-семья-наслаждается-приготовлением-пищи-на-кухне.jpg" descr="счастливая-семья-наслаждается-приготовлением-пищи-на-кухн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5795" y="-30226"/>
            <a:ext cx="9184302" cy="13776453"/>
          </a:xfrm>
          <a:prstGeom prst="rect">
            <a:avLst/>
          </a:prstGeom>
          <a:ln w="12700">
            <a:miter lim="400000"/>
          </a:ln>
        </p:spPr>
      </p:pic>
      <p:sp>
        <p:nvSpPr>
          <p:cNvPr id="161" name="Текст"/>
          <p:cNvSpPr txBox="1"/>
          <p:nvPr/>
        </p:nvSpPr>
        <p:spPr>
          <a:xfrm>
            <a:off x="19208495" y="-804927"/>
            <a:ext cx="127001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</p:txBody>
      </p:sp>
      <p:sp>
        <p:nvSpPr>
          <p:cNvPr id="163" name="Актуальность"/>
          <p:cNvSpPr/>
          <p:nvPr/>
        </p:nvSpPr>
        <p:spPr>
          <a:xfrm>
            <a:off x="-1016" y="-19304"/>
            <a:ext cx="15215594" cy="2207001"/>
          </a:xfrm>
          <a:prstGeom prst="rect">
            <a:avLst/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4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ru-RU" dirty="0"/>
              <a:t>Введение</a:t>
            </a:r>
            <a:endParaRPr dirty="0"/>
          </a:p>
        </p:txBody>
      </p:sp>
      <p:sp>
        <p:nvSpPr>
          <p:cNvPr id="14" name="Задачи">
            <a:extLst>
              <a:ext uri="{FF2B5EF4-FFF2-40B4-BE49-F238E27FC236}">
                <a16:creationId xmlns:a16="http://schemas.microsoft.com/office/drawing/2014/main" id="{C7E8749C-5E20-4DBA-B347-4F3F5FD113AC}"/>
              </a:ext>
            </a:extLst>
          </p:cNvPr>
          <p:cNvSpPr txBox="1">
            <a:spLocks/>
          </p:cNvSpPr>
          <p:nvPr/>
        </p:nvSpPr>
        <p:spPr>
          <a:xfrm>
            <a:off x="15969953" y="4299436"/>
            <a:ext cx="2491584" cy="486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 fontScale="85000" lnSpcReduction="20000"/>
          </a:bodyPr>
          <a:lstStyle>
            <a:lvl1pPr marL="0" marR="0" indent="0" algn="ctr" defTabSz="817244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64" b="1" i="0" u="none" strike="noStrike" cap="none" spc="-35" baseline="0">
                <a:solidFill>
                  <a:srgbClr val="DE6734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1092200" marR="0" indent="-546100" algn="l" defTabSz="2438338" rtl="0" latinLnBrk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150000"/>
              <a:buFontTx/>
              <a:buChar char="•"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nela Text Regular"/>
                <a:ea typeface="Canela Text Regular"/>
                <a:cs typeface="Canela Text Regular"/>
                <a:sym typeface="Canela Text Regular"/>
              </a:defRPr>
            </a:lvl2pPr>
            <a:lvl3pPr marL="1638300" marR="0" indent="-546100" algn="l" defTabSz="2438338" rtl="0" latinLnBrk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150000"/>
              <a:buFontTx/>
              <a:buChar char="•"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nela Text Regular"/>
                <a:ea typeface="Canela Text Regular"/>
                <a:cs typeface="Canela Text Regular"/>
                <a:sym typeface="Canela Text Regular"/>
              </a:defRPr>
            </a:lvl3pPr>
            <a:lvl4pPr marL="2184400" marR="0" indent="-546100" algn="l" defTabSz="2438338" rtl="0" latinLnBrk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150000"/>
              <a:buFontTx/>
              <a:buChar char="•"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nela Text Regular"/>
                <a:ea typeface="Canela Text Regular"/>
                <a:cs typeface="Canela Text Regular"/>
                <a:sym typeface="Canela Text Regular"/>
              </a:defRPr>
            </a:lvl4pPr>
            <a:lvl5pPr marL="2730500" marR="0" indent="-546100" algn="l" defTabSz="2438338" rtl="0" latinLnBrk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150000"/>
              <a:buFontTx/>
              <a:buChar char="•"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nela Text Regular"/>
                <a:ea typeface="Canela Text Regular"/>
                <a:cs typeface="Canela Text Regular"/>
                <a:sym typeface="Canela Text Regular"/>
              </a:defRPr>
            </a:lvl5pPr>
            <a:lvl6pPr marL="3276600" marR="0" indent="-546100" algn="l" defTabSz="2438338" rtl="0" latinLnBrk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150000"/>
              <a:buFontTx/>
              <a:buChar char="•"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nela Text Regular"/>
                <a:ea typeface="Canela Text Regular"/>
                <a:cs typeface="Canela Text Regular"/>
                <a:sym typeface="Canela Text Regular"/>
              </a:defRPr>
            </a:lvl6pPr>
            <a:lvl7pPr marL="3822700" marR="0" indent="-546100" algn="l" defTabSz="2438338" rtl="0" latinLnBrk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150000"/>
              <a:buFontTx/>
              <a:buChar char="•"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nela Text Regular"/>
                <a:ea typeface="Canela Text Regular"/>
                <a:cs typeface="Canela Text Regular"/>
                <a:sym typeface="Canela Text Regular"/>
              </a:defRPr>
            </a:lvl7pPr>
            <a:lvl8pPr marL="4368800" marR="0" indent="-546100" algn="l" defTabSz="2438338" rtl="0" latinLnBrk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150000"/>
              <a:buFontTx/>
              <a:buChar char="•"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nela Text Regular"/>
                <a:ea typeface="Canela Text Regular"/>
                <a:cs typeface="Canela Text Regular"/>
                <a:sym typeface="Canela Text Regular"/>
              </a:defRPr>
            </a:lvl8pPr>
            <a:lvl9pPr marL="4914900" marR="0" indent="-546100" algn="l" defTabSz="2438338" rtl="0" latinLnBrk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150000"/>
              <a:buFontTx/>
              <a:buChar char="•"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nela Text Regular"/>
                <a:ea typeface="Canela Text Regular"/>
                <a:cs typeface="Canela Text Regular"/>
                <a:sym typeface="Canela Text Regular"/>
              </a:defRPr>
            </a:lvl9pPr>
          </a:lstStyle>
          <a:p>
            <a:pPr hangingPunct="1"/>
            <a:r>
              <a:rPr lang="ru-RU"/>
              <a:t>Задачи</a:t>
            </a:r>
          </a:p>
        </p:txBody>
      </p:sp>
      <p:sp>
        <p:nvSpPr>
          <p:cNvPr id="15" name="Цель">
            <a:extLst>
              <a:ext uri="{FF2B5EF4-FFF2-40B4-BE49-F238E27FC236}">
                <a16:creationId xmlns:a16="http://schemas.microsoft.com/office/drawing/2014/main" id="{BCA0587E-2458-47E3-B530-06585E8959B7}"/>
              </a:ext>
            </a:extLst>
          </p:cNvPr>
          <p:cNvSpPr txBox="1">
            <a:spLocks/>
          </p:cNvSpPr>
          <p:nvPr/>
        </p:nvSpPr>
        <p:spPr>
          <a:xfrm>
            <a:off x="2866743" y="4250839"/>
            <a:ext cx="3244828" cy="565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b">
            <a:normAutofit/>
          </a:bodyPr>
          <a:lstStyle>
            <a:lvl1pPr marL="0" marR="0" indent="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1" i="0" u="none" strike="noStrike" cap="none" spc="-36" baseline="0">
                <a:solidFill>
                  <a:srgbClr val="DE6734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0" marR="0" indent="45720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-84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nela Bold"/>
              </a:defRPr>
            </a:lvl2pPr>
            <a:lvl3pPr marL="0" marR="0" indent="91440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-84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nela Bold"/>
              </a:defRPr>
            </a:lvl3pPr>
            <a:lvl4pPr marL="0" marR="0" indent="137160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-84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nela Bold"/>
              </a:defRPr>
            </a:lvl4pPr>
            <a:lvl5pPr marL="0" marR="0" indent="182880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-84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nela Bold"/>
              </a:defRPr>
            </a:lvl5pPr>
            <a:lvl6pPr marL="0" marR="0" indent="228600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-84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nela Bold"/>
              </a:defRPr>
            </a:lvl6pPr>
            <a:lvl7pPr marL="0" marR="0" indent="274320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-84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nela Bold"/>
              </a:defRPr>
            </a:lvl7pPr>
            <a:lvl8pPr marL="0" marR="0" indent="320040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-84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nela Bold"/>
              </a:defRPr>
            </a:lvl8pPr>
            <a:lvl9pPr marL="0" marR="0" indent="365760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-84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nela Bold"/>
              </a:defRPr>
            </a:lvl9pPr>
          </a:lstStyle>
          <a:p>
            <a:pPr hangingPunct="1"/>
            <a:r>
              <a:rPr lang="ru-RU"/>
              <a:t>Цель</a:t>
            </a:r>
          </a:p>
        </p:txBody>
      </p:sp>
      <p:sp>
        <p:nvSpPr>
          <p:cNvPr id="16" name="Разработать интуитивно понятный…">
            <a:extLst>
              <a:ext uri="{FF2B5EF4-FFF2-40B4-BE49-F238E27FC236}">
                <a16:creationId xmlns:a16="http://schemas.microsoft.com/office/drawing/2014/main" id="{A50BD1F5-966F-43CF-AC9A-5296DB939CD7}"/>
              </a:ext>
            </a:extLst>
          </p:cNvPr>
          <p:cNvSpPr/>
          <p:nvPr/>
        </p:nvSpPr>
        <p:spPr>
          <a:xfrm>
            <a:off x="1497318" y="5606178"/>
            <a:ext cx="5446517" cy="2764100"/>
          </a:xfrm>
          <a:prstGeom prst="roundRect">
            <a:avLst>
              <a:gd name="adj" fmla="val 14108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/>
          <a:p>
            <a:pPr defTabSz="825500">
              <a:lnSpc>
                <a:spcPct val="100000"/>
              </a:lnSpc>
              <a:defRPr sz="2800" spc="-2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Разработать интуитивно понятный </a:t>
            </a:r>
          </a:p>
          <a:p>
            <a:pPr defTabSz="825500">
              <a:lnSpc>
                <a:spcPct val="100000"/>
              </a:lnSpc>
              <a:defRPr sz="2800" spc="-2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веб-сайт для поиска рецептов</a:t>
            </a:r>
          </a:p>
        </p:txBody>
      </p:sp>
      <p:sp>
        <p:nvSpPr>
          <p:cNvPr id="17" name="- 1 Сформулировать ТЗ;…">
            <a:extLst>
              <a:ext uri="{FF2B5EF4-FFF2-40B4-BE49-F238E27FC236}">
                <a16:creationId xmlns:a16="http://schemas.microsoft.com/office/drawing/2014/main" id="{1C97CACF-FEC5-474B-90B2-EEAA37247040}"/>
              </a:ext>
            </a:extLst>
          </p:cNvPr>
          <p:cNvSpPr/>
          <p:nvPr/>
        </p:nvSpPr>
        <p:spPr>
          <a:xfrm>
            <a:off x="12416043" y="5606178"/>
            <a:ext cx="8417087" cy="2764100"/>
          </a:xfrm>
          <a:prstGeom prst="roundRect">
            <a:avLst>
              <a:gd name="adj" fmla="val 14108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/>
          <a:p>
            <a:pPr algn="just" defTabSz="825500">
              <a:lnSpc>
                <a:spcPct val="100000"/>
              </a:lnSpc>
              <a:defRPr sz="2800" spc="-2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- 1 Сформулировать ТЗ;</a:t>
            </a:r>
          </a:p>
          <a:p>
            <a:pPr algn="just" defTabSz="825500">
              <a:lnSpc>
                <a:spcPct val="100000"/>
              </a:lnSpc>
              <a:defRPr sz="2800" spc="-2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- 2 Спроектировать модели базы данных;</a:t>
            </a:r>
          </a:p>
          <a:p>
            <a:pPr algn="just" defTabSz="825500">
              <a:lnSpc>
                <a:spcPct val="100000"/>
              </a:lnSpc>
              <a:defRPr sz="2800" spc="-2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- 3 Разработать архитектуру, реализовать серверную часть;</a:t>
            </a:r>
          </a:p>
          <a:p>
            <a:pPr algn="just" defTabSz="825500">
              <a:lnSpc>
                <a:spcPct val="100000"/>
              </a:lnSpc>
              <a:defRPr sz="2800" spc="-2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- 4 Реализовать интерфейс;</a:t>
            </a:r>
          </a:p>
          <a:p>
            <a:pPr algn="just" defTabSz="825500">
              <a:lnSpc>
                <a:spcPct val="100000"/>
              </a:lnSpc>
              <a:defRPr sz="2800" spc="-2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- 5 Создать интерактивные модули;</a:t>
            </a:r>
          </a:p>
          <a:p>
            <a:pPr algn="just" defTabSz="825500">
              <a:lnSpc>
                <a:spcPct val="100000"/>
              </a:lnSpc>
              <a:defRPr sz="2800" spc="-2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- 6 Обеспечить надежность;</a:t>
            </a:r>
          </a:p>
        </p:txBody>
      </p:sp>
      <p:pic>
        <p:nvPicPr>
          <p:cNvPr id="18" name="Линия Линия" descr="Линия Линия">
            <a:extLst>
              <a:ext uri="{FF2B5EF4-FFF2-40B4-BE49-F238E27FC236}">
                <a16:creationId xmlns:a16="http://schemas.microsoft.com/office/drawing/2014/main" id="{76BAB4CB-6DCB-4E59-92CC-5428E362476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756512" y="7287312"/>
            <a:ext cx="2552836" cy="6125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Текст"/>
          <p:cNvSpPr txBox="1"/>
          <p:nvPr/>
        </p:nvSpPr>
        <p:spPr>
          <a:xfrm>
            <a:off x="15035784" y="-487427"/>
            <a:ext cx="1270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78" name="Текст"/>
          <p:cNvSpPr txBox="1"/>
          <p:nvPr/>
        </p:nvSpPr>
        <p:spPr>
          <a:xfrm>
            <a:off x="19208495" y="-804927"/>
            <a:ext cx="127001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</p:txBody>
      </p:sp>
      <p:sp>
        <p:nvSpPr>
          <p:cNvPr id="179" name="Архитектура и стек технологий"/>
          <p:cNvSpPr/>
          <p:nvPr/>
        </p:nvSpPr>
        <p:spPr>
          <a:xfrm>
            <a:off x="-1016" y="-19304"/>
            <a:ext cx="24386033" cy="2207001"/>
          </a:xfrm>
          <a:prstGeom prst="rect">
            <a:avLst/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4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ru-RU" dirty="0"/>
              <a:t>С</a:t>
            </a:r>
            <a:r>
              <a:rPr dirty="0" err="1"/>
              <a:t>тек</a:t>
            </a:r>
            <a:r>
              <a:rPr dirty="0"/>
              <a:t> </a:t>
            </a:r>
            <a:r>
              <a:rPr dirty="0" err="1"/>
              <a:t>технологий</a:t>
            </a:r>
            <a:endParaRPr dirty="0"/>
          </a:p>
        </p:txBody>
      </p:sp>
      <p:sp>
        <p:nvSpPr>
          <p:cNvPr id="180" name="OpenServer"/>
          <p:cNvSpPr/>
          <p:nvPr/>
        </p:nvSpPr>
        <p:spPr>
          <a:xfrm>
            <a:off x="1169891" y="4275339"/>
            <a:ext cx="4218665" cy="3611724"/>
          </a:xfrm>
          <a:prstGeom prst="roundRect">
            <a:avLst>
              <a:gd name="adj" fmla="val 15000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 err="1"/>
              <a:t>OpenServer</a:t>
            </a:r>
            <a:endParaRPr dirty="0"/>
          </a:p>
        </p:txBody>
      </p:sp>
      <p:sp>
        <p:nvSpPr>
          <p:cNvPr id="181" name="Visual Studio Code"/>
          <p:cNvSpPr/>
          <p:nvPr/>
        </p:nvSpPr>
        <p:spPr>
          <a:xfrm>
            <a:off x="6995772" y="4275339"/>
            <a:ext cx="4218665" cy="3611724"/>
          </a:xfrm>
          <a:prstGeom prst="roundRect">
            <a:avLst>
              <a:gd name="adj" fmla="val 15000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Visual Studio Code</a:t>
            </a:r>
          </a:p>
        </p:txBody>
      </p:sp>
      <p:sp>
        <p:nvSpPr>
          <p:cNvPr id="182" name="PhpMyAdmin"/>
          <p:cNvSpPr/>
          <p:nvPr/>
        </p:nvSpPr>
        <p:spPr>
          <a:xfrm>
            <a:off x="12970953" y="4275339"/>
            <a:ext cx="4218665" cy="3611724"/>
          </a:xfrm>
          <a:prstGeom prst="roundRect">
            <a:avLst>
              <a:gd name="adj" fmla="val 15000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PhpMyAdmin</a:t>
            </a:r>
          </a:p>
        </p:txBody>
      </p:sp>
      <p:sp>
        <p:nvSpPr>
          <p:cNvPr id="183" name="Клиентская часть: HTML, CSS, JavaScirpt"/>
          <p:cNvSpPr txBox="1"/>
          <p:nvPr/>
        </p:nvSpPr>
        <p:spPr>
          <a:xfrm>
            <a:off x="8656637" y="11917711"/>
            <a:ext cx="7070726" cy="496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 err="1"/>
              <a:t>Клиентская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: HTML, CSS, </a:t>
            </a:r>
            <a:r>
              <a:rPr dirty="0" err="1"/>
              <a:t>JavaScirpt</a:t>
            </a:r>
            <a:r>
              <a:rPr dirty="0"/>
              <a:t> </a:t>
            </a:r>
          </a:p>
        </p:txBody>
      </p:sp>
      <p:sp>
        <p:nvSpPr>
          <p:cNvPr id="184" name="Локальный сервер"/>
          <p:cNvSpPr/>
          <p:nvPr/>
        </p:nvSpPr>
        <p:spPr>
          <a:xfrm>
            <a:off x="1169891" y="4231652"/>
            <a:ext cx="4218665" cy="1123780"/>
          </a:xfrm>
          <a:prstGeom prst="roundRect">
            <a:avLst>
              <a:gd name="adj" fmla="val 48209"/>
            </a:avLst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sz="2800" dirty="0" err="1"/>
              <a:t>Локальный</a:t>
            </a:r>
            <a:r>
              <a:rPr sz="2800" dirty="0"/>
              <a:t> </a:t>
            </a:r>
            <a:r>
              <a:rPr sz="2800" dirty="0" err="1"/>
              <a:t>сервер</a:t>
            </a:r>
            <a:endParaRPr sz="2800" dirty="0"/>
          </a:p>
        </p:txBody>
      </p:sp>
      <p:sp>
        <p:nvSpPr>
          <p:cNvPr id="185" name="Редактор кода"/>
          <p:cNvSpPr/>
          <p:nvPr/>
        </p:nvSpPr>
        <p:spPr>
          <a:xfrm>
            <a:off x="6995772" y="4231652"/>
            <a:ext cx="4218665" cy="1123780"/>
          </a:xfrm>
          <a:prstGeom prst="roundRect">
            <a:avLst>
              <a:gd name="adj" fmla="val 48209"/>
            </a:avLst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sz="2800"/>
              <a:t>Редактор кода</a:t>
            </a:r>
          </a:p>
        </p:txBody>
      </p:sp>
      <p:sp>
        <p:nvSpPr>
          <p:cNvPr id="186" name="Управление БД"/>
          <p:cNvSpPr/>
          <p:nvPr/>
        </p:nvSpPr>
        <p:spPr>
          <a:xfrm>
            <a:off x="12970953" y="4231652"/>
            <a:ext cx="4218665" cy="1123780"/>
          </a:xfrm>
          <a:prstGeom prst="roundRect">
            <a:avLst>
              <a:gd name="adj" fmla="val 48209"/>
            </a:avLst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sz="2800"/>
              <a:t>Управление БД</a:t>
            </a:r>
          </a:p>
        </p:txBody>
      </p:sp>
      <p:pic>
        <p:nvPicPr>
          <p:cNvPr id="187" name="images.jpeg" descr="image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464" y="8611244"/>
            <a:ext cx="1267518" cy="1267518"/>
          </a:xfrm>
          <a:prstGeom prst="rect">
            <a:avLst/>
          </a:prstGeom>
          <a:ln w="12700">
            <a:miter lim="400000"/>
          </a:ln>
        </p:spPr>
      </p:pic>
      <p:pic>
        <p:nvPicPr>
          <p:cNvPr id="188" name="Unknown.jpeg" descr="Unknown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345" y="8611244"/>
            <a:ext cx="1267518" cy="1267518"/>
          </a:xfrm>
          <a:prstGeom prst="rect">
            <a:avLst/>
          </a:prstGeom>
          <a:ln w="12700">
            <a:miter lim="400000"/>
          </a:ln>
        </p:spPr>
      </p:pic>
      <p:pic>
        <p:nvPicPr>
          <p:cNvPr id="189" name="Unknown.png" descr="Unkn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6361" y="8058578"/>
            <a:ext cx="2372848" cy="2372849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PhpMyAdmin">
            <a:extLst>
              <a:ext uri="{FF2B5EF4-FFF2-40B4-BE49-F238E27FC236}">
                <a16:creationId xmlns:a16="http://schemas.microsoft.com/office/drawing/2014/main" id="{559691AD-2C01-4404-85C2-8D868D9056C2}"/>
              </a:ext>
            </a:extLst>
          </p:cNvPr>
          <p:cNvSpPr/>
          <p:nvPr/>
        </p:nvSpPr>
        <p:spPr>
          <a:xfrm>
            <a:off x="18946134" y="4275339"/>
            <a:ext cx="4218665" cy="3611724"/>
          </a:xfrm>
          <a:prstGeom prst="roundRect">
            <a:avLst>
              <a:gd name="adj" fmla="val 15000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Figma</a:t>
            </a:r>
            <a:endParaRPr dirty="0"/>
          </a:p>
        </p:txBody>
      </p:sp>
      <p:sp>
        <p:nvSpPr>
          <p:cNvPr id="18" name="Управление БД">
            <a:extLst>
              <a:ext uri="{FF2B5EF4-FFF2-40B4-BE49-F238E27FC236}">
                <a16:creationId xmlns:a16="http://schemas.microsoft.com/office/drawing/2014/main" id="{01D92EBA-F450-4EEC-A1C8-DF0FFD463CF2}"/>
              </a:ext>
            </a:extLst>
          </p:cNvPr>
          <p:cNvSpPr/>
          <p:nvPr/>
        </p:nvSpPr>
        <p:spPr>
          <a:xfrm>
            <a:off x="18946134" y="4231652"/>
            <a:ext cx="4218665" cy="1123780"/>
          </a:xfrm>
          <a:prstGeom prst="roundRect">
            <a:avLst>
              <a:gd name="adj" fmla="val 48209"/>
            </a:avLst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ru-RU" sz="2800" dirty="0"/>
              <a:t>Создание Макета</a:t>
            </a:r>
            <a:endParaRPr sz="2800" dirty="0"/>
          </a:p>
        </p:txBody>
      </p:sp>
      <p:pic>
        <p:nvPicPr>
          <p:cNvPr id="1032" name="Picture 8" descr="Figma Logo Icon Figma App Editable Transparent Background Premium ...">
            <a:extLst>
              <a:ext uri="{FF2B5EF4-FFF2-40B4-BE49-F238E27FC236}">
                <a16:creationId xmlns:a16="http://schemas.microsoft.com/office/drawing/2014/main" id="{7455A9AE-13EA-4C81-A389-A33CA6A03F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79774" y="8169310"/>
            <a:ext cx="2151383" cy="215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Прямоугольник"/>
          <p:cNvSpPr/>
          <p:nvPr/>
        </p:nvSpPr>
        <p:spPr>
          <a:xfrm>
            <a:off x="14270584" y="-19217"/>
            <a:ext cx="10194648" cy="13754434"/>
          </a:xfrm>
          <a:prstGeom prst="rect">
            <a:avLst/>
          </a:prstGeom>
          <a:solidFill>
            <a:srgbClr val="5F5F5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/>
          </a:p>
        </p:txBody>
      </p:sp>
      <p:sp>
        <p:nvSpPr>
          <p:cNvPr id="192" name="Categories"/>
          <p:cNvSpPr txBox="1">
            <a:spLocks noGrp="1"/>
          </p:cNvSpPr>
          <p:nvPr>
            <p:ph type="ctrTitle"/>
          </p:nvPr>
        </p:nvSpPr>
        <p:spPr>
          <a:xfrm>
            <a:off x="1243583" y="3820245"/>
            <a:ext cx="4036479" cy="702982"/>
          </a:xfrm>
          <a:prstGeom prst="rect">
            <a:avLst/>
          </a:prstGeom>
        </p:spPr>
        <p:txBody>
          <a:bodyPr/>
          <a:lstStyle>
            <a:lvl1pPr algn="l">
              <a:defRPr sz="3600" b="1" spc="-36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Categories</a:t>
            </a:r>
          </a:p>
        </p:txBody>
      </p:sp>
      <p:sp>
        <p:nvSpPr>
          <p:cNvPr id="193" name="Id, title, icon - Категории блюд"/>
          <p:cNvSpPr txBox="1">
            <a:spLocks noGrp="1"/>
          </p:cNvSpPr>
          <p:nvPr>
            <p:ph type="subTitle" sz="quarter" idx="1"/>
          </p:nvPr>
        </p:nvSpPr>
        <p:spPr>
          <a:xfrm>
            <a:off x="1239011" y="4668350"/>
            <a:ext cx="11987840" cy="702982"/>
          </a:xfrm>
          <a:prstGeom prst="rect">
            <a:avLst/>
          </a:prstGeom>
        </p:spPr>
        <p:txBody>
          <a:bodyPr/>
          <a:lstStyle>
            <a:lvl1pPr algn="l">
              <a:defRPr sz="2800" spc="-28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Id, title, icon - Категории блюд</a:t>
            </a:r>
          </a:p>
        </p:txBody>
      </p:sp>
      <p:sp>
        <p:nvSpPr>
          <p:cNvPr id="194" name="Текст"/>
          <p:cNvSpPr txBox="1"/>
          <p:nvPr/>
        </p:nvSpPr>
        <p:spPr>
          <a:xfrm>
            <a:off x="15035784" y="-487427"/>
            <a:ext cx="1270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195" name="image9.png" descr="image9.png"/>
          <p:cNvPicPr>
            <a:picLocks noChangeAspect="1"/>
          </p:cNvPicPr>
          <p:nvPr/>
        </p:nvPicPr>
        <p:blipFill>
          <a:blip r:embed="rId2"/>
          <a:srcRect l="4761" r="4761"/>
          <a:stretch>
            <a:fillRect/>
          </a:stretch>
        </p:blipFill>
        <p:spPr>
          <a:xfrm>
            <a:off x="14778246" y="3585559"/>
            <a:ext cx="9179425" cy="6545074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Текст"/>
          <p:cNvSpPr txBox="1"/>
          <p:nvPr/>
        </p:nvSpPr>
        <p:spPr>
          <a:xfrm>
            <a:off x="19208495" y="-804927"/>
            <a:ext cx="127001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</p:txBody>
      </p:sp>
      <p:sp>
        <p:nvSpPr>
          <p:cNvPr id="197" name="Проектирование базы данных"/>
          <p:cNvSpPr/>
          <p:nvPr/>
        </p:nvSpPr>
        <p:spPr>
          <a:xfrm>
            <a:off x="-1016" y="-19304"/>
            <a:ext cx="14264685" cy="2207001"/>
          </a:xfrm>
          <a:prstGeom prst="rect">
            <a:avLst/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4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Проектирование базы данных</a:t>
            </a:r>
          </a:p>
        </p:txBody>
      </p:sp>
      <p:sp>
        <p:nvSpPr>
          <p:cNvPr id="198" name="Recipes"/>
          <p:cNvSpPr txBox="1"/>
          <p:nvPr/>
        </p:nvSpPr>
        <p:spPr>
          <a:xfrm>
            <a:off x="1243583" y="5506966"/>
            <a:ext cx="4036479" cy="7029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b">
            <a:normAutofit/>
          </a:bodyPr>
          <a:lstStyle>
            <a:lvl1pPr algn="l">
              <a:lnSpc>
                <a:spcPct val="80000"/>
              </a:lnSpc>
              <a:defRPr sz="3600" b="1" spc="-36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Recipes</a:t>
            </a:r>
          </a:p>
        </p:txBody>
      </p:sp>
      <p:sp>
        <p:nvSpPr>
          <p:cNvPr id="199" name="Id, title, description, likes, caregory_id - Краткая информация о рецепте"/>
          <p:cNvSpPr txBox="1"/>
          <p:nvPr/>
        </p:nvSpPr>
        <p:spPr>
          <a:xfrm>
            <a:off x="1239011" y="6364560"/>
            <a:ext cx="11987840" cy="7029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algn="l" defTabSz="825500">
              <a:lnSpc>
                <a:spcPct val="100000"/>
              </a:lnSpc>
              <a:defRPr sz="2800" spc="-28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Id, title, description, likes, caregory_id - Краткая информация о рецепте</a:t>
            </a:r>
          </a:p>
        </p:txBody>
      </p:sp>
      <p:sp>
        <p:nvSpPr>
          <p:cNvPr id="200" name="Card_recipes"/>
          <p:cNvSpPr txBox="1"/>
          <p:nvPr/>
        </p:nvSpPr>
        <p:spPr>
          <a:xfrm>
            <a:off x="1243583" y="7222155"/>
            <a:ext cx="4036479" cy="7029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b">
            <a:normAutofit/>
          </a:bodyPr>
          <a:lstStyle>
            <a:lvl1pPr algn="l">
              <a:lnSpc>
                <a:spcPct val="80000"/>
              </a:lnSpc>
              <a:defRPr sz="3600" b="1" spc="-36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Card_recipes</a:t>
            </a:r>
          </a:p>
        </p:txBody>
      </p:sp>
      <p:sp>
        <p:nvSpPr>
          <p:cNvPr id="201" name="Id, ingridients, portions, time_for_cook, tutorial, images - Карточка рецепта"/>
          <p:cNvSpPr txBox="1"/>
          <p:nvPr/>
        </p:nvSpPr>
        <p:spPr>
          <a:xfrm>
            <a:off x="1239011" y="8079750"/>
            <a:ext cx="11987840" cy="7029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algn="l" defTabSz="825500">
              <a:lnSpc>
                <a:spcPct val="100000"/>
              </a:lnSpc>
              <a:defRPr sz="2800" spc="-28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Id, ingridients, portions, time_for_cook, tutorial, images - Карточка рецепта</a:t>
            </a:r>
          </a:p>
        </p:txBody>
      </p:sp>
      <p:sp>
        <p:nvSpPr>
          <p:cNvPr id="202" name="Users"/>
          <p:cNvSpPr txBox="1"/>
          <p:nvPr/>
        </p:nvSpPr>
        <p:spPr>
          <a:xfrm>
            <a:off x="1243583" y="8850549"/>
            <a:ext cx="4036479" cy="7029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b">
            <a:normAutofit/>
          </a:bodyPr>
          <a:lstStyle>
            <a:lvl1pPr algn="l">
              <a:lnSpc>
                <a:spcPct val="80000"/>
              </a:lnSpc>
              <a:defRPr sz="3600" b="1" spc="-36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Users</a:t>
            </a:r>
          </a:p>
        </p:txBody>
      </p:sp>
      <p:sp>
        <p:nvSpPr>
          <p:cNvPr id="203" name="Id, login, pass - Пользователи системы"/>
          <p:cNvSpPr txBox="1"/>
          <p:nvPr/>
        </p:nvSpPr>
        <p:spPr>
          <a:xfrm>
            <a:off x="1239011" y="9775960"/>
            <a:ext cx="11987840" cy="7029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algn="l" defTabSz="825500">
              <a:lnSpc>
                <a:spcPct val="100000"/>
              </a:lnSpc>
              <a:defRPr sz="2800" spc="-28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Id, login, pass - Пользователи системы</a:t>
            </a:r>
          </a:p>
        </p:txBody>
      </p:sp>
      <p:sp>
        <p:nvSpPr>
          <p:cNvPr id="204" name="User_likes"/>
          <p:cNvSpPr txBox="1"/>
          <p:nvPr/>
        </p:nvSpPr>
        <p:spPr>
          <a:xfrm>
            <a:off x="1243583" y="10478942"/>
            <a:ext cx="4036479" cy="7029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b">
            <a:normAutofit/>
          </a:bodyPr>
          <a:lstStyle>
            <a:lvl1pPr algn="l">
              <a:lnSpc>
                <a:spcPct val="80000"/>
              </a:lnSpc>
              <a:defRPr sz="3600" b="1" spc="-36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User_likes</a:t>
            </a:r>
          </a:p>
        </p:txBody>
      </p:sp>
      <p:sp>
        <p:nvSpPr>
          <p:cNvPr id="205" name="user_id, recipe_id - Связующая таблица для системы «Избранное»"/>
          <p:cNvSpPr txBox="1"/>
          <p:nvPr/>
        </p:nvSpPr>
        <p:spPr>
          <a:xfrm>
            <a:off x="1239011" y="11336537"/>
            <a:ext cx="11987840" cy="7029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algn="l" defTabSz="825500">
              <a:lnSpc>
                <a:spcPct val="100000"/>
              </a:lnSpc>
              <a:defRPr sz="2800" spc="-28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user_id, recipe_id - Связующая таблица для системы «Избранное»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Текст"/>
          <p:cNvSpPr txBox="1"/>
          <p:nvPr/>
        </p:nvSpPr>
        <p:spPr>
          <a:xfrm>
            <a:off x="15035784" y="-487427"/>
            <a:ext cx="1270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08" name="Текст"/>
          <p:cNvSpPr txBox="1"/>
          <p:nvPr/>
        </p:nvSpPr>
        <p:spPr>
          <a:xfrm>
            <a:off x="19208495" y="-804927"/>
            <a:ext cx="127001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</p:txBody>
      </p:sp>
      <p:sp>
        <p:nvSpPr>
          <p:cNvPr id="209" name="Структура веб-сайта и навигации"/>
          <p:cNvSpPr/>
          <p:nvPr/>
        </p:nvSpPr>
        <p:spPr>
          <a:xfrm>
            <a:off x="-1016" y="-19304"/>
            <a:ext cx="24386033" cy="2207001"/>
          </a:xfrm>
          <a:prstGeom prst="rect">
            <a:avLst/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4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Структура веб-сайта и навигации</a:t>
            </a:r>
          </a:p>
        </p:txBody>
      </p:sp>
      <p:sp>
        <p:nvSpPr>
          <p:cNvPr id="210" name="Главная"/>
          <p:cNvSpPr/>
          <p:nvPr/>
        </p:nvSpPr>
        <p:spPr>
          <a:xfrm>
            <a:off x="1317310" y="4537800"/>
            <a:ext cx="3812580" cy="2207002"/>
          </a:xfrm>
          <a:prstGeom prst="roundRect">
            <a:avLst>
              <a:gd name="adj" fmla="val 15000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Главная</a:t>
            </a:r>
          </a:p>
        </p:txBody>
      </p:sp>
      <p:sp>
        <p:nvSpPr>
          <p:cNvPr id="211" name="Стрелка"/>
          <p:cNvSpPr/>
          <p:nvPr/>
        </p:nvSpPr>
        <p:spPr>
          <a:xfrm>
            <a:off x="5622228" y="5188425"/>
            <a:ext cx="958617" cy="905751"/>
          </a:xfrm>
          <a:prstGeom prst="rightArrow">
            <a:avLst>
              <a:gd name="adj1" fmla="val 29491"/>
              <a:gd name="adj2" fmla="val 61226"/>
            </a:avLst>
          </a:prstGeom>
          <a:solidFill>
            <a:srgbClr val="DE673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/>
          </a:p>
        </p:txBody>
      </p:sp>
      <p:sp>
        <p:nvSpPr>
          <p:cNvPr id="212" name="Категории"/>
          <p:cNvSpPr/>
          <p:nvPr/>
        </p:nvSpPr>
        <p:spPr>
          <a:xfrm>
            <a:off x="7199856" y="4537800"/>
            <a:ext cx="3812579" cy="2207002"/>
          </a:xfrm>
          <a:prstGeom prst="roundRect">
            <a:avLst>
              <a:gd name="adj" fmla="val 15000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Категории</a:t>
            </a:r>
          </a:p>
        </p:txBody>
      </p:sp>
      <p:sp>
        <p:nvSpPr>
          <p:cNvPr id="213" name="Стрелка"/>
          <p:cNvSpPr/>
          <p:nvPr/>
        </p:nvSpPr>
        <p:spPr>
          <a:xfrm>
            <a:off x="11441438" y="5188425"/>
            <a:ext cx="958616" cy="905751"/>
          </a:xfrm>
          <a:prstGeom prst="rightArrow">
            <a:avLst>
              <a:gd name="adj1" fmla="val 29491"/>
              <a:gd name="adj2" fmla="val 61226"/>
            </a:avLst>
          </a:prstGeom>
          <a:solidFill>
            <a:srgbClr val="DE673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/>
          </a:p>
        </p:txBody>
      </p:sp>
      <p:sp>
        <p:nvSpPr>
          <p:cNvPr id="214" name="Список рецептов категории"/>
          <p:cNvSpPr/>
          <p:nvPr/>
        </p:nvSpPr>
        <p:spPr>
          <a:xfrm>
            <a:off x="12829056" y="4537800"/>
            <a:ext cx="3975069" cy="2301063"/>
          </a:xfrm>
          <a:prstGeom prst="roundRect">
            <a:avLst>
              <a:gd name="adj" fmla="val 15000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Список рецептов категории</a:t>
            </a:r>
          </a:p>
        </p:txBody>
      </p:sp>
      <p:sp>
        <p:nvSpPr>
          <p:cNvPr id="215" name="Стрелка"/>
          <p:cNvSpPr/>
          <p:nvPr/>
        </p:nvSpPr>
        <p:spPr>
          <a:xfrm>
            <a:off x="17468564" y="5235456"/>
            <a:ext cx="958616" cy="905750"/>
          </a:xfrm>
          <a:prstGeom prst="rightArrow">
            <a:avLst>
              <a:gd name="adj1" fmla="val 29491"/>
              <a:gd name="adj2" fmla="val 61226"/>
            </a:avLst>
          </a:prstGeom>
          <a:solidFill>
            <a:srgbClr val="DE673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/>
          </a:p>
        </p:txBody>
      </p:sp>
      <p:sp>
        <p:nvSpPr>
          <p:cNvPr id="216" name="Карточка рецепт"/>
          <p:cNvSpPr/>
          <p:nvPr/>
        </p:nvSpPr>
        <p:spPr>
          <a:xfrm>
            <a:off x="19091620" y="4490769"/>
            <a:ext cx="3975069" cy="2301063"/>
          </a:xfrm>
          <a:prstGeom prst="roundRect">
            <a:avLst>
              <a:gd name="adj" fmla="val 15000"/>
            </a:avLst>
          </a:prstGeom>
          <a:solidFill>
            <a:srgbClr val="5F5F5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Карточка рецепт</a:t>
            </a:r>
          </a:p>
        </p:txBody>
      </p:sp>
      <p:sp>
        <p:nvSpPr>
          <p:cNvPr id="217" name="Карта навигации пользователя"/>
          <p:cNvSpPr txBox="1"/>
          <p:nvPr/>
        </p:nvSpPr>
        <p:spPr>
          <a:xfrm>
            <a:off x="9583229" y="3114565"/>
            <a:ext cx="5217543" cy="496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Карта навигации пользователя</a:t>
            </a:r>
          </a:p>
        </p:txBody>
      </p:sp>
      <p:sp>
        <p:nvSpPr>
          <p:cNvPr id="218" name="Особенности интерфейса"/>
          <p:cNvSpPr txBox="1"/>
          <p:nvPr/>
        </p:nvSpPr>
        <p:spPr>
          <a:xfrm>
            <a:off x="9986751" y="7808100"/>
            <a:ext cx="4410498" cy="496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Особенности интерфейса</a:t>
            </a:r>
          </a:p>
        </p:txBody>
      </p:sp>
      <p:sp>
        <p:nvSpPr>
          <p:cNvPr id="219" name="Header…"/>
          <p:cNvSpPr txBox="1"/>
          <p:nvPr/>
        </p:nvSpPr>
        <p:spPr>
          <a:xfrm>
            <a:off x="2598704" y="9367766"/>
            <a:ext cx="5026600" cy="219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600" b="1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Header</a:t>
            </a:r>
          </a:p>
          <a:p>
            <a:pPr>
              <a:defRPr sz="3600" b="1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  <a:p>
            <a:pPr>
              <a:defRPr sz="2800">
                <a:latin typeface="Arial"/>
                <a:ea typeface="Arial"/>
                <a:cs typeface="Arial"/>
                <a:sym typeface="Arial"/>
              </a:defRPr>
            </a:pPr>
            <a:r>
              <a:t>Динамически меняет кнопки «Вход/Регистрация» на «Выйти» после авторизации.</a:t>
            </a:r>
          </a:p>
        </p:txBody>
      </p:sp>
      <p:sp>
        <p:nvSpPr>
          <p:cNvPr id="220" name="Поиск…"/>
          <p:cNvSpPr txBox="1"/>
          <p:nvPr/>
        </p:nvSpPr>
        <p:spPr>
          <a:xfrm>
            <a:off x="9678700" y="9367766"/>
            <a:ext cx="5026601" cy="219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600" b="1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Поиск</a:t>
            </a:r>
          </a:p>
          <a:p>
            <a:pPr>
              <a:defRPr sz="3600" b="1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  <a:p>
            <a:pPr>
              <a:defRPr sz="2800">
                <a:latin typeface="Arial"/>
                <a:ea typeface="Arial"/>
                <a:cs typeface="Arial"/>
                <a:sym typeface="Arial"/>
              </a:defRPr>
            </a:pPr>
            <a:r>
              <a:t>Реализован по отдельности в разделах категории и внутри списка рецептов.</a:t>
            </a:r>
          </a:p>
        </p:txBody>
      </p:sp>
      <p:sp>
        <p:nvSpPr>
          <p:cNvPr id="221" name="Избранное…"/>
          <p:cNvSpPr txBox="1"/>
          <p:nvPr/>
        </p:nvSpPr>
        <p:spPr>
          <a:xfrm>
            <a:off x="16758696" y="9188965"/>
            <a:ext cx="5026600" cy="2560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600" b="1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Избранное</a:t>
            </a:r>
          </a:p>
          <a:p>
            <a:pPr>
              <a:defRPr sz="3600" b="1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  <a:p>
            <a:pPr>
              <a:defRPr sz="2800">
                <a:latin typeface="Arial"/>
                <a:ea typeface="Arial"/>
                <a:cs typeface="Arial"/>
                <a:sym typeface="Arial"/>
              </a:defRPr>
            </a:pPr>
            <a:r>
              <a:t>Авторизованный пользователь видит блок «Вам понравилось» прямо на главной странице.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Решение"/>
          <p:cNvSpPr txBox="1">
            <a:spLocks noGrp="1"/>
          </p:cNvSpPr>
          <p:nvPr>
            <p:ph type="body" idx="21"/>
          </p:nvPr>
        </p:nvSpPr>
        <p:spPr>
          <a:xfrm>
            <a:off x="1244600" y="7998289"/>
            <a:ext cx="3099468" cy="60579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>
            <a:lvl1pPr algn="l" defTabSz="817244">
              <a:defRPr sz="3564" b="1" spc="-35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Решение</a:t>
            </a:r>
          </a:p>
        </p:txBody>
      </p:sp>
      <p:sp>
        <p:nvSpPr>
          <p:cNvPr id="224" name="Главная"/>
          <p:cNvSpPr txBox="1">
            <a:spLocks noGrp="1"/>
          </p:cNvSpPr>
          <p:nvPr>
            <p:ph type="ctrTitle"/>
          </p:nvPr>
        </p:nvSpPr>
        <p:spPr>
          <a:xfrm>
            <a:off x="15441812" y="5313325"/>
            <a:ext cx="2162846" cy="702982"/>
          </a:xfrm>
          <a:prstGeom prst="rect">
            <a:avLst/>
          </a:prstGeom>
        </p:spPr>
        <p:txBody>
          <a:bodyPr/>
          <a:lstStyle>
            <a:lvl1pPr algn="l">
              <a:defRPr sz="3600" b="1" spc="-36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Главная</a:t>
            </a:r>
          </a:p>
        </p:txBody>
      </p:sp>
      <p:sp>
        <p:nvSpPr>
          <p:cNvPr id="225" name="Интерфейс выдержан в светлых тонах с оранжевыми акцентами…"/>
          <p:cNvSpPr txBox="1">
            <a:spLocks noGrp="1"/>
          </p:cNvSpPr>
          <p:nvPr>
            <p:ph type="subTitle" sz="quarter" idx="1"/>
          </p:nvPr>
        </p:nvSpPr>
        <p:spPr>
          <a:xfrm>
            <a:off x="10529316" y="6810219"/>
            <a:ext cx="11987839" cy="2299361"/>
          </a:xfrm>
          <a:prstGeom prst="rect">
            <a:avLst/>
          </a:prstGeom>
        </p:spPr>
        <p:txBody>
          <a:bodyPr/>
          <a:lstStyle/>
          <a:p>
            <a:pPr algn="l">
              <a:defRPr sz="2800" spc="-28">
                <a:latin typeface="Arial"/>
                <a:ea typeface="Arial"/>
                <a:cs typeface="Arial"/>
                <a:sym typeface="Arial"/>
              </a:defRPr>
            </a:pPr>
            <a:r>
              <a:t>Интерфейс выдержан в светлых тонах с оранжевыми акцентами</a:t>
            </a:r>
          </a:p>
          <a:p>
            <a:pPr algn="l">
              <a:defRPr sz="2800" spc="-28">
                <a:latin typeface="Arial"/>
                <a:ea typeface="Arial"/>
                <a:cs typeface="Arial"/>
                <a:sym typeface="Arial"/>
              </a:defRPr>
            </a:pPr>
            <a:r>
              <a:t>На Главном Окне нас встречает приветственное сообщение и в случае входа в аккаунт под приветственным текстом будут рецепты добавленные в «Избранное»</a:t>
            </a:r>
          </a:p>
        </p:txBody>
      </p:sp>
      <p:sp>
        <p:nvSpPr>
          <p:cNvPr id="226" name="Текст"/>
          <p:cNvSpPr txBox="1"/>
          <p:nvPr/>
        </p:nvSpPr>
        <p:spPr>
          <a:xfrm>
            <a:off x="15035784" y="-487427"/>
            <a:ext cx="1270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227" name="счастливая-семья-наслаждается-приготовлением-пищи-на-кухне.jpg" descr="счастливая-семья-наслаждается-приготовлением-пищи-на-кухне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61393" y="2164333"/>
            <a:ext cx="7727473" cy="11591213"/>
          </a:xfrm>
          <a:prstGeom prst="rect">
            <a:avLst/>
          </a:prstGeom>
          <a:ln w="12700">
            <a:miter lim="400000"/>
          </a:ln>
        </p:spPr>
      </p:pic>
      <p:sp>
        <p:nvSpPr>
          <p:cNvPr id="228" name="Текст"/>
          <p:cNvSpPr txBox="1"/>
          <p:nvPr/>
        </p:nvSpPr>
        <p:spPr>
          <a:xfrm>
            <a:off x="19208495" y="-804927"/>
            <a:ext cx="127001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</p:txBody>
      </p:sp>
      <p:sp>
        <p:nvSpPr>
          <p:cNvPr id="229" name="Интерфейс"/>
          <p:cNvSpPr/>
          <p:nvPr/>
        </p:nvSpPr>
        <p:spPr>
          <a:xfrm>
            <a:off x="-1016" y="-19304"/>
            <a:ext cx="24386033" cy="2207001"/>
          </a:xfrm>
          <a:prstGeom prst="rect">
            <a:avLst/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4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Интерфейс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Решение"/>
          <p:cNvSpPr txBox="1">
            <a:spLocks noGrp="1"/>
          </p:cNvSpPr>
          <p:nvPr>
            <p:ph type="body" idx="21"/>
          </p:nvPr>
        </p:nvSpPr>
        <p:spPr>
          <a:xfrm>
            <a:off x="1244600" y="7998289"/>
            <a:ext cx="3099468" cy="60579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>
            <a:lvl1pPr algn="l" defTabSz="817244">
              <a:defRPr sz="3564" b="1" spc="-35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Решение</a:t>
            </a:r>
          </a:p>
        </p:txBody>
      </p:sp>
      <p:sp>
        <p:nvSpPr>
          <p:cNvPr id="232" name="Категории"/>
          <p:cNvSpPr txBox="1">
            <a:spLocks noGrp="1"/>
          </p:cNvSpPr>
          <p:nvPr>
            <p:ph type="ctrTitle"/>
          </p:nvPr>
        </p:nvSpPr>
        <p:spPr>
          <a:xfrm>
            <a:off x="15441812" y="5313325"/>
            <a:ext cx="2506103" cy="702982"/>
          </a:xfrm>
          <a:prstGeom prst="rect">
            <a:avLst/>
          </a:prstGeom>
        </p:spPr>
        <p:txBody>
          <a:bodyPr/>
          <a:lstStyle>
            <a:lvl1pPr algn="l">
              <a:defRPr sz="3600" b="1" spc="-36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Категории</a:t>
            </a:r>
          </a:p>
        </p:txBody>
      </p:sp>
      <p:sp>
        <p:nvSpPr>
          <p:cNvPr id="233" name="Категории представлены в виде квадратных карточек с названием сверху и визуальным изображением категории."/>
          <p:cNvSpPr txBox="1">
            <a:spLocks noGrp="1"/>
          </p:cNvSpPr>
          <p:nvPr>
            <p:ph type="subTitle" sz="quarter" idx="1"/>
          </p:nvPr>
        </p:nvSpPr>
        <p:spPr>
          <a:xfrm>
            <a:off x="10529316" y="6810219"/>
            <a:ext cx="11987839" cy="2299361"/>
          </a:xfrm>
          <a:prstGeom prst="rect">
            <a:avLst/>
          </a:prstGeom>
        </p:spPr>
        <p:txBody>
          <a:bodyPr/>
          <a:lstStyle>
            <a:lvl1pPr algn="l">
              <a:defRPr sz="2800" spc="-28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Категории представлены в виде квадратных карточек с названием сверху и визуальным изображением категории.</a:t>
            </a:r>
          </a:p>
        </p:txBody>
      </p:sp>
      <p:sp>
        <p:nvSpPr>
          <p:cNvPr id="234" name="Текст"/>
          <p:cNvSpPr txBox="1"/>
          <p:nvPr/>
        </p:nvSpPr>
        <p:spPr>
          <a:xfrm>
            <a:off x="15035784" y="-487427"/>
            <a:ext cx="1270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235" name="счастливая-семья-наслаждается-приготовлением-пищи-на-кухне.jpg" descr="счастливая-семья-наслаждается-приготовлением-пищи-на-кухне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61393" y="2164333"/>
            <a:ext cx="7727473" cy="11591213"/>
          </a:xfrm>
          <a:prstGeom prst="rect">
            <a:avLst/>
          </a:prstGeom>
          <a:ln w="12700">
            <a:miter lim="400000"/>
          </a:ln>
        </p:spPr>
      </p:pic>
      <p:sp>
        <p:nvSpPr>
          <p:cNvPr id="236" name="Текст"/>
          <p:cNvSpPr txBox="1"/>
          <p:nvPr/>
        </p:nvSpPr>
        <p:spPr>
          <a:xfrm>
            <a:off x="19208495" y="-804927"/>
            <a:ext cx="127001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</p:txBody>
      </p:sp>
      <p:sp>
        <p:nvSpPr>
          <p:cNvPr id="237" name="Интерфейс"/>
          <p:cNvSpPr/>
          <p:nvPr/>
        </p:nvSpPr>
        <p:spPr>
          <a:xfrm>
            <a:off x="-1016" y="-19304"/>
            <a:ext cx="24386033" cy="2207001"/>
          </a:xfrm>
          <a:prstGeom prst="rect">
            <a:avLst/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4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Интерфейс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Решение"/>
          <p:cNvSpPr txBox="1">
            <a:spLocks noGrp="1"/>
          </p:cNvSpPr>
          <p:nvPr>
            <p:ph type="body" idx="21"/>
          </p:nvPr>
        </p:nvSpPr>
        <p:spPr>
          <a:xfrm>
            <a:off x="1244600" y="7998289"/>
            <a:ext cx="3099468" cy="60579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>
            <a:lvl1pPr algn="l" defTabSz="817244">
              <a:defRPr sz="3564" b="1" spc="-35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Решение</a:t>
            </a:r>
          </a:p>
        </p:txBody>
      </p:sp>
      <p:sp>
        <p:nvSpPr>
          <p:cNvPr id="240" name="Рецепты и Карточка Рецепта"/>
          <p:cNvSpPr txBox="1">
            <a:spLocks noGrp="1"/>
          </p:cNvSpPr>
          <p:nvPr>
            <p:ph type="ctrTitle"/>
          </p:nvPr>
        </p:nvSpPr>
        <p:spPr>
          <a:xfrm>
            <a:off x="8920726" y="3315709"/>
            <a:ext cx="6542548" cy="702982"/>
          </a:xfrm>
          <a:prstGeom prst="rect">
            <a:avLst/>
          </a:prstGeom>
        </p:spPr>
        <p:txBody>
          <a:bodyPr/>
          <a:lstStyle>
            <a:lvl1pPr algn="l">
              <a:defRPr sz="3600" b="1" spc="-36">
                <a:solidFill>
                  <a:srgbClr val="DE67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Рецепты и Карточка Рецепта</a:t>
            </a:r>
          </a:p>
        </p:txBody>
      </p:sp>
      <p:sp>
        <p:nvSpPr>
          <p:cNvPr id="241" name="При переходе на категорию появляются соответствующие рецепты. Каждая плашка рецепта имеет Название, Изображение, Краткое описание и Количество лайков.…"/>
          <p:cNvSpPr txBox="1">
            <a:spLocks noGrp="1"/>
          </p:cNvSpPr>
          <p:nvPr>
            <p:ph type="subTitle" sz="quarter" idx="1"/>
          </p:nvPr>
        </p:nvSpPr>
        <p:spPr>
          <a:xfrm>
            <a:off x="8920726" y="5146702"/>
            <a:ext cx="6542548" cy="562639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algn="l" defTabSz="792479">
              <a:defRPr sz="2688" spc="-26">
                <a:latin typeface="Arial"/>
                <a:ea typeface="Arial"/>
                <a:cs typeface="Arial"/>
                <a:sym typeface="Arial"/>
              </a:defRPr>
            </a:pPr>
            <a:r>
              <a:t>При переходе на категорию появляются соответствующие рецепты. Каждая плашка рецепта имеет Название, Изображение, Краткое описание и Количество лайков.</a:t>
            </a:r>
          </a:p>
          <a:p>
            <a:pPr algn="l" defTabSz="792479">
              <a:defRPr sz="2688" spc="-26">
                <a:latin typeface="Arial"/>
                <a:ea typeface="Arial"/>
                <a:cs typeface="Arial"/>
                <a:sym typeface="Arial"/>
              </a:defRPr>
            </a:pPr>
            <a:endParaRPr/>
          </a:p>
          <a:p>
            <a:pPr algn="l" defTabSz="792479">
              <a:defRPr sz="2688" spc="-26">
                <a:latin typeface="Arial"/>
                <a:ea typeface="Arial"/>
                <a:cs typeface="Arial"/>
                <a:sym typeface="Arial"/>
              </a:defRPr>
            </a:pPr>
            <a:r>
              <a:t>При переходе на рецепт появляется карточка рецепта, которая имеет Изображение блюда, Название, Описание, Ингредиенты, Время приготовления, Количество порций, Количество лайков и Сам рецепт сопровождаемый визуальными изображениями</a:t>
            </a:r>
          </a:p>
        </p:txBody>
      </p:sp>
      <p:sp>
        <p:nvSpPr>
          <p:cNvPr id="242" name="Текст"/>
          <p:cNvSpPr txBox="1"/>
          <p:nvPr/>
        </p:nvSpPr>
        <p:spPr>
          <a:xfrm>
            <a:off x="15035784" y="-487427"/>
            <a:ext cx="1270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243" name="счастливая-семья-наслаждается-приготовлением-пищи-на-кухне.jpg" descr="счастливая-семья-наслаждается-приготовлением-пищи-на-кухне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61393" y="2164333"/>
            <a:ext cx="7727473" cy="11591213"/>
          </a:xfrm>
          <a:prstGeom prst="rect">
            <a:avLst/>
          </a:prstGeom>
          <a:ln w="12700">
            <a:miter lim="400000"/>
          </a:ln>
        </p:spPr>
      </p:pic>
      <p:sp>
        <p:nvSpPr>
          <p:cNvPr id="244" name="Текст"/>
          <p:cNvSpPr txBox="1"/>
          <p:nvPr/>
        </p:nvSpPr>
        <p:spPr>
          <a:xfrm>
            <a:off x="19208495" y="-804927"/>
            <a:ext cx="127001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474747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  <a:p>
            <a:pPr algn="l" defTabSz="457200">
              <a:lnSpc>
                <a:spcPct val="100000"/>
              </a:lnSpc>
              <a:defRPr sz="1600">
                <a:solidFill>
                  <a:srgbClr val="02A388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u="sng"/>
          </a:p>
        </p:txBody>
      </p:sp>
      <p:sp>
        <p:nvSpPr>
          <p:cNvPr id="245" name="Интерфейс"/>
          <p:cNvSpPr/>
          <p:nvPr/>
        </p:nvSpPr>
        <p:spPr>
          <a:xfrm>
            <a:off x="-1016" y="-19304"/>
            <a:ext cx="24386033" cy="2207001"/>
          </a:xfrm>
          <a:prstGeom prst="rect">
            <a:avLst/>
          </a:prstGeom>
          <a:solidFill>
            <a:srgbClr val="DE673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defTabSz="1130300">
              <a:lnSpc>
                <a:spcPct val="100000"/>
              </a:lnSpc>
              <a:defRPr sz="4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Интерфейс</a:t>
            </a:r>
          </a:p>
        </p:txBody>
      </p:sp>
      <p:pic>
        <p:nvPicPr>
          <p:cNvPr id="246" name="счастливая-семья-наслаждается-приготовлением-пищи-на-кухне.jpg" descr="счастливая-семья-наслаждается-приготовлением-пищи-на-кухне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6817838" y="2164333"/>
            <a:ext cx="7727474" cy="115912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1">
            <a:extLst>
              <a:ext uri="{FF2B5EF4-FFF2-40B4-BE49-F238E27FC236}">
                <a16:creationId xmlns:a16="http://schemas.microsoft.com/office/drawing/2014/main" id="{70CEEEC3-3BCB-431D-8828-EA77E61CAC51}"/>
              </a:ext>
            </a:extLst>
          </p:cNvPr>
          <p:cNvSpPr>
            <a:spLocks noGrp="1"/>
          </p:cNvSpPr>
          <p:nvPr>
            <p:ph type="pic" idx="21"/>
          </p:nvPr>
        </p:nvSpPr>
        <p:spPr/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C175AD78-71FB-4043-837D-7CE3CBE6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Проек</a:t>
            </a:r>
            <a:r>
              <a:rPr lang="ru-RU" dirty="0"/>
              <a:t>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47011D1-C8C4-48BB-AA55-7BEA7FF93726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23E9F57-1691-4107-AE7A-632213315E9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6506497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1">
            <a:extLst>
              <a:ext uri="{FF2B5EF4-FFF2-40B4-BE49-F238E27FC236}">
                <a16:creationId xmlns:a16="http://schemas.microsoft.com/office/drawing/2014/main" id="{F32D0708-B365-4A2F-9E3F-08A4F66F73CB}"/>
              </a:ext>
            </a:extLst>
          </p:cNvPr>
          <p:cNvSpPr>
            <a:spLocks noGrp="1"/>
          </p:cNvSpPr>
          <p:nvPr>
            <p:ph type="pic" idx="21"/>
          </p:nvPr>
        </p:nvSpPr>
        <p:spPr/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4A3CB129-8E4D-406C-961F-4675E5C63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Обеспечение безопасност</a:t>
            </a:r>
            <a:r>
              <a:rPr lang="ru-RU" dirty="0"/>
              <a:t>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BD9C240-8F93-4599-98B1-800101F95DBA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8BDDFB-87C7-487A-8186-3D9324DFE2A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61247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Бускаров Александр ИСИП 23/1"/>
          <p:cNvSpPr txBox="1">
            <a:spLocks noGrp="1"/>
          </p:cNvSpPr>
          <p:nvPr>
            <p:ph type="body" idx="21"/>
          </p:nvPr>
        </p:nvSpPr>
        <p:spPr>
          <a:xfrm>
            <a:off x="1219200" y="12173013"/>
            <a:ext cx="21945599" cy="60579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668655">
              <a:defRPr sz="2916" spc="-29"/>
            </a:lvl1pPr>
          </a:lstStyle>
          <a:p>
            <a:r>
              <a:t>Бускаров Александр ИСИП 23/1</a:t>
            </a:r>
          </a:p>
        </p:txBody>
      </p:sp>
      <p:sp>
        <p:nvSpPr>
          <p:cNvPr id="249" name="Курсовая Работа «Cook GO»"/>
          <p:cNvSpPr txBox="1">
            <a:spLocks noGrp="1"/>
          </p:cNvSpPr>
          <p:nvPr>
            <p:ph type="ctrTitle"/>
          </p:nvPr>
        </p:nvSpPr>
        <p:spPr>
          <a:xfrm>
            <a:off x="7667468" y="5878159"/>
            <a:ext cx="9049065" cy="971104"/>
          </a:xfrm>
          <a:prstGeom prst="rect">
            <a:avLst/>
          </a:prstGeom>
        </p:spPr>
        <p:txBody>
          <a:bodyPr/>
          <a:lstStyle>
            <a:lvl1pPr>
              <a:defRPr sz="4400" b="1" spc="-44">
                <a:solidFill>
                  <a:srgbClr val="DE6734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Курсовая Работа «Cook GO»</a:t>
            </a:r>
          </a:p>
        </p:txBody>
      </p:sp>
      <p:sp>
        <p:nvSpPr>
          <p:cNvPr id="250" name="Министерство образования и науки Республики Саха(Якутия) ГАПОУ РС(Я) «Якутский колледж связи и информационных технологий имени П.И. Дудкина»"/>
          <p:cNvSpPr txBox="1">
            <a:spLocks noGrp="1"/>
          </p:cNvSpPr>
          <p:nvPr>
            <p:ph type="subTitle" sz="quarter" idx="1"/>
          </p:nvPr>
        </p:nvSpPr>
        <p:spPr>
          <a:xfrm>
            <a:off x="1219200" y="981096"/>
            <a:ext cx="21945600" cy="2250593"/>
          </a:xfrm>
          <a:prstGeom prst="rect">
            <a:avLst/>
          </a:prstGeom>
        </p:spPr>
        <p:txBody>
          <a:bodyPr/>
          <a:lstStyle>
            <a:lvl1pPr>
              <a:defRPr sz="3600" spc="-36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Министерство образования и науки Республики Саха(Якутия) ГАПОУ РС(Я) «Якутский колледж связи и информационных технологий имени П.И. Дудкина»</a:t>
            </a:r>
          </a:p>
        </p:txBody>
      </p:sp>
      <p:sp>
        <p:nvSpPr>
          <p:cNvPr id="251" name="Проектирование и разработка сайта для поиска кулинарных рецептов"/>
          <p:cNvSpPr txBox="1"/>
          <p:nvPr/>
        </p:nvSpPr>
        <p:spPr>
          <a:xfrm>
            <a:off x="1219200" y="7275950"/>
            <a:ext cx="21945600" cy="2250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defTabSz="825500">
              <a:lnSpc>
                <a:spcPct val="100000"/>
              </a:lnSpc>
              <a:defRPr sz="3600" spc="-36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Проектирование и разработка сайта для поиска кулинарных рецептов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3_ClassicWhite">
  <a:themeElements>
    <a:clrScheme name="23_Clas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3E74D1"/>
      </a:accent1>
      <a:accent2>
        <a:srgbClr val="33C5B9"/>
      </a:accent2>
      <a:accent3>
        <a:srgbClr val="45B53C"/>
      </a:accent3>
      <a:accent4>
        <a:srgbClr val="FFBD16"/>
      </a:accent4>
      <a:accent5>
        <a:srgbClr val="E22146"/>
      </a:accent5>
      <a:accent6>
        <a:srgbClr val="836BB7"/>
      </a:accent6>
      <a:hlink>
        <a:srgbClr val="0000FF"/>
      </a:hlink>
      <a:folHlink>
        <a:srgbClr val="FF00FF"/>
      </a:folHlink>
    </a:clrScheme>
    <a:fontScheme name="23_ClassicWhite">
      <a:majorFont>
        <a:latin typeface="Canela Bold"/>
        <a:ea typeface="Canela Bold"/>
        <a:cs typeface="Canela Bold"/>
      </a:majorFont>
      <a:minorFont>
        <a:latin typeface="Canela Bold"/>
        <a:ea typeface="Canela Bold"/>
        <a:cs typeface="Canela Bold"/>
      </a:minorFont>
    </a:fontScheme>
    <a:fmtScheme name="23_Clas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303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Avenir Next Regular"/>
            <a:ea typeface="Avenir Next Regular"/>
            <a:cs typeface="Avenir Next Regular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400" rtl="0" fontAlgn="auto" latinLnBrk="0" hangingPunct="0">
          <a:lnSpc>
            <a:spcPct val="9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nela Text Regular"/>
            <a:ea typeface="Canela Text Regular"/>
            <a:cs typeface="Canela Text Regular"/>
            <a:sym typeface="Canela T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3_ClassicWhite">
  <a:themeElements>
    <a:clrScheme name="23_Clas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3E74D1"/>
      </a:accent1>
      <a:accent2>
        <a:srgbClr val="33C5B9"/>
      </a:accent2>
      <a:accent3>
        <a:srgbClr val="45B53C"/>
      </a:accent3>
      <a:accent4>
        <a:srgbClr val="FFBD16"/>
      </a:accent4>
      <a:accent5>
        <a:srgbClr val="E22146"/>
      </a:accent5>
      <a:accent6>
        <a:srgbClr val="836BB7"/>
      </a:accent6>
      <a:hlink>
        <a:srgbClr val="0000FF"/>
      </a:hlink>
      <a:folHlink>
        <a:srgbClr val="FF00FF"/>
      </a:folHlink>
    </a:clrScheme>
    <a:fontScheme name="23_ClassicWhite">
      <a:majorFont>
        <a:latin typeface="Canela Bold"/>
        <a:ea typeface="Canela Bold"/>
        <a:cs typeface="Canela Bold"/>
      </a:majorFont>
      <a:minorFont>
        <a:latin typeface="Canela Bold"/>
        <a:ea typeface="Canela Bold"/>
        <a:cs typeface="Canela Bold"/>
      </a:minorFont>
    </a:fontScheme>
    <a:fmtScheme name="23_Clas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303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Avenir Next Regular"/>
            <a:ea typeface="Avenir Next Regular"/>
            <a:cs typeface="Avenir Next Regular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400" rtl="0" fontAlgn="auto" latinLnBrk="0" hangingPunct="0">
          <a:lnSpc>
            <a:spcPct val="9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nela Text Regular"/>
            <a:ea typeface="Canela Text Regular"/>
            <a:cs typeface="Canela Text Regular"/>
            <a:sym typeface="Canela T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430</Words>
  <Application>Microsoft Office PowerPoint</Application>
  <PresentationFormat>Произвольный</PresentationFormat>
  <Paragraphs>97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23" baseType="lpstr">
      <vt:lpstr>Arial</vt:lpstr>
      <vt:lpstr>Avenir Next Demi Bold</vt:lpstr>
      <vt:lpstr>Avenir Next Medium</vt:lpstr>
      <vt:lpstr>Avenir Next Regular</vt:lpstr>
      <vt:lpstr>Calibri</vt:lpstr>
      <vt:lpstr>Canela Bold</vt:lpstr>
      <vt:lpstr>Canela Deck Regular</vt:lpstr>
      <vt:lpstr>Canela Regular</vt:lpstr>
      <vt:lpstr>Canela Text Regular</vt:lpstr>
      <vt:lpstr>Helvetica</vt:lpstr>
      <vt:lpstr>Helvetica Neue</vt:lpstr>
      <vt:lpstr>23_ClassicWhite</vt:lpstr>
      <vt:lpstr>Курсовая Работа «Cook GO»</vt:lpstr>
      <vt:lpstr>Презентация PowerPoint</vt:lpstr>
      <vt:lpstr>Презентация PowerPoint</vt:lpstr>
      <vt:lpstr>Categories</vt:lpstr>
      <vt:lpstr>Презентация PowerPoint</vt:lpstr>
      <vt:lpstr>Главная</vt:lpstr>
      <vt:lpstr>Категории</vt:lpstr>
      <vt:lpstr>Рецепты и Карточка Рецепта</vt:lpstr>
      <vt:lpstr>Проект</vt:lpstr>
      <vt:lpstr>Обеспечение безопасности</vt:lpstr>
      <vt:lpstr>Курсовая Работа «Cook GO»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Курсовая Работа «Cook GO»</dc:title>
  <cp:lastModifiedBy>Android Studio</cp:lastModifiedBy>
  <cp:revision>1</cp:revision>
  <dcterms:modified xsi:type="dcterms:W3CDTF">2026-04-25T01:31:42Z</dcterms:modified>
</cp:coreProperties>
</file>