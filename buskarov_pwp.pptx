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08990">
              <a:lnSpc>
                <a:spcPct val="100000"/>
              </a:lnSpc>
              <a:spcBef>
                <a:spcPts val="0"/>
              </a:spcBef>
              <a:buSzTx/>
              <a:buNone/>
              <a:defRPr spc="-29" sz="294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ляж и море на закате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Уровень текста 1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Автор и дата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08990">
              <a:lnSpc>
                <a:spcPct val="100000"/>
              </a:lnSpc>
              <a:spcBef>
                <a:spcPts val="0"/>
              </a:spcBef>
              <a:buSzTx/>
              <a:buNone/>
              <a:defRPr spc="-29" sz="2940">
                <a:solidFill>
                  <a:srgbClr val="FFFF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Заголовок слайда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3" name="Море и небо на закате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Подзаголовок слайда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Заголовок слайда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1" name="Море и небо на закате"/>
          <p:cNvSpPr/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Подзаголовок слайда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3" name="Уровень текста 1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Заголовок раздела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72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0" name="Подзаголовок слайда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1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повестки дня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89" name="Уровень текста 1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0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91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Уровень текста 1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Информация о факте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07" name="Уровень текста 1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Авторство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Авторство</a:t>
            </a:r>
          </a:p>
        </p:txBody>
      </p:sp>
      <p:sp>
        <p:nvSpPr>
          <p:cNvPr id="116" name="Уровень текста 1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Море и небо на закате 2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Море и небо на закате 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Пляж и море на закате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пляж и море на закате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lnSpc>
                <a:spcPct val="100000"/>
              </a:lnSpc>
              <a:defRPr sz="20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Бускаров Александр ИСИП 23/1"/>
          <p:cNvSpPr txBox="1"/>
          <p:nvPr>
            <p:ph type="body" idx="21"/>
          </p:nvPr>
        </p:nvSpPr>
        <p:spPr>
          <a:xfrm>
            <a:off x="1219200" y="12173013"/>
            <a:ext cx="21945599" cy="6057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17244">
              <a:defRPr spc="-35" sz="3564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Бускаров Александр ИСИП 23/1 </a:t>
            </a:r>
          </a:p>
        </p:txBody>
      </p:sp>
      <p:sp>
        <p:nvSpPr>
          <p:cNvPr id="152" name="Курсовая Работа «Cook GO»"/>
          <p:cNvSpPr txBox="1"/>
          <p:nvPr>
            <p:ph type="ctrTitle"/>
          </p:nvPr>
        </p:nvSpPr>
        <p:spPr>
          <a:xfrm>
            <a:off x="7667468" y="5878159"/>
            <a:ext cx="9049065" cy="971104"/>
          </a:xfrm>
          <a:prstGeom prst="rect">
            <a:avLst/>
          </a:prstGeom>
        </p:spPr>
        <p:txBody>
          <a:bodyPr/>
          <a:lstStyle>
            <a:lvl1pPr>
              <a:defRPr b="1" spc="-44" sz="44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Курсовая Работа «Cook GO»</a:t>
            </a:r>
          </a:p>
        </p:txBody>
      </p:sp>
      <p:sp>
        <p:nvSpPr>
          <p:cNvPr id="153" name="Министерство образования и науки Республики Саха(Якутия) ГАПОУ РС(Я) «Якутский колледж связи и информационных технологий имени П.И. Дудкина»"/>
          <p:cNvSpPr txBox="1"/>
          <p:nvPr>
            <p:ph type="subTitle" sz="quarter" idx="1"/>
          </p:nvPr>
        </p:nvSpPr>
        <p:spPr>
          <a:xfrm>
            <a:off x="1219200" y="981096"/>
            <a:ext cx="21945600" cy="2250593"/>
          </a:xfrm>
          <a:prstGeom prst="rect">
            <a:avLst/>
          </a:prstGeom>
        </p:spPr>
        <p:txBody>
          <a:bodyPr/>
          <a:lstStyle>
            <a:lvl1pPr>
              <a:defRPr spc="-36" sz="3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Министерство образования и науки Республики Саха(Якутия) ГАПОУ РС(Я) «Якутский колледж связи и информационных технологий имени П.И. Дудкина»</a:t>
            </a:r>
          </a:p>
        </p:txBody>
      </p:sp>
      <p:sp>
        <p:nvSpPr>
          <p:cNvPr id="154" name="Проектирование и разработка сайта для поиска кулинарных рецептов"/>
          <p:cNvSpPr txBox="1"/>
          <p:nvPr/>
        </p:nvSpPr>
        <p:spPr>
          <a:xfrm>
            <a:off x="1219200" y="7275950"/>
            <a:ext cx="21945600" cy="225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36" sz="3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Проектирование и разработка сайта для поиска кулинарных рецептов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Решение"/>
          <p:cNvSpPr txBox="1"/>
          <p:nvPr>
            <p:ph type="body" idx="21"/>
          </p:nvPr>
        </p:nvSpPr>
        <p:spPr>
          <a:xfrm>
            <a:off x="1244600" y="7998289"/>
            <a:ext cx="3099468" cy="6057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algn="l" defTabSz="817244">
              <a:defRPr b="1" spc="-35" sz="3564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Решение</a:t>
            </a:r>
          </a:p>
        </p:txBody>
      </p:sp>
      <p:sp>
        <p:nvSpPr>
          <p:cNvPr id="157" name="Проблема"/>
          <p:cNvSpPr txBox="1"/>
          <p:nvPr>
            <p:ph type="ctrTitle"/>
          </p:nvPr>
        </p:nvSpPr>
        <p:spPr>
          <a:xfrm>
            <a:off x="1243583" y="3896328"/>
            <a:ext cx="4036479" cy="702983"/>
          </a:xfrm>
          <a:prstGeom prst="rect">
            <a:avLst/>
          </a:prstGeom>
        </p:spPr>
        <p:txBody>
          <a:bodyPr/>
          <a:lstStyle>
            <a:lvl1pPr algn="l">
              <a:defRPr b="1" spc="-36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Проблема</a:t>
            </a:r>
          </a:p>
        </p:txBody>
      </p:sp>
      <p:sp>
        <p:nvSpPr>
          <p:cNvPr id="158" name="Все больше людей интересуются приготовлением блюд, а самый простой и доступный источник - это интернет.…"/>
          <p:cNvSpPr txBox="1"/>
          <p:nvPr>
            <p:ph type="subTitle" sz="quarter" idx="1"/>
          </p:nvPr>
        </p:nvSpPr>
        <p:spPr>
          <a:xfrm>
            <a:off x="1239011" y="5149119"/>
            <a:ext cx="11987840" cy="2299362"/>
          </a:xfrm>
          <a:prstGeom prst="rect">
            <a:avLst/>
          </a:prstGeom>
        </p:spPr>
        <p:txBody>
          <a:bodyPr/>
          <a:lstStyle/>
          <a:p>
            <a:pPr algn="l" defTabSz="808990">
              <a:defRPr spc="-27" sz="2744">
                <a:latin typeface="Arial"/>
                <a:ea typeface="Arial"/>
                <a:cs typeface="Arial"/>
                <a:sym typeface="Arial"/>
              </a:defRPr>
            </a:pPr>
            <a:r>
              <a:t>Все больше людей интересуются приготовлением блюд, а самый простой и доступный источник - это интернет.</a:t>
            </a:r>
          </a:p>
          <a:p>
            <a:pPr algn="l" defTabSz="808990">
              <a:defRPr spc="-27" sz="2744">
                <a:latin typeface="Arial"/>
                <a:ea typeface="Arial"/>
                <a:cs typeface="Arial"/>
                <a:sym typeface="Arial"/>
              </a:defRPr>
            </a:pPr>
            <a:r>
              <a:t>По большей части уже существующие сайты либо наполнены необязательными функциями которые перегружают экран, либо не имеют важных функций фильтраций, которые необходимы в подборе рецепта.</a:t>
            </a:r>
          </a:p>
        </p:txBody>
      </p:sp>
      <p:sp>
        <p:nvSpPr>
          <p:cNvPr id="159" name="Текст"/>
          <p:cNvSpPr txBox="1"/>
          <p:nvPr/>
        </p:nvSpPr>
        <p:spPr>
          <a:xfrm>
            <a:off x="15035784" y="-487427"/>
            <a:ext cx="1270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pic>
        <p:nvPicPr>
          <p:cNvPr id="160" name="счастливая-семья-наслаждается-приготовлением-пищи-на-кухне.jpg" descr="счастливая-семья-наслаждается-приготовлением-пищи-на-кухне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05795" y="-30226"/>
            <a:ext cx="9184302" cy="13776453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Текст"/>
          <p:cNvSpPr txBox="1"/>
          <p:nvPr/>
        </p:nvSpPr>
        <p:spPr>
          <a:xfrm>
            <a:off x="19208495" y="-804927"/>
            <a:ext cx="127001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u="sng"/>
          </a:p>
          <a:p>
            <a:pPr algn="l" defTabSz="457200">
              <a:lnSpc>
                <a:spcPct val="100000"/>
              </a:lnSpc>
              <a:defRPr sz="1600">
                <a:solidFill>
                  <a:srgbClr val="474747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474747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62" name="Сайт «Cook GO» предоставляет рецепты отсортированные в категории, что сильно облегчает поиск.…"/>
          <p:cNvSpPr txBox="1"/>
          <p:nvPr/>
        </p:nvSpPr>
        <p:spPr>
          <a:xfrm>
            <a:off x="1239011" y="9153889"/>
            <a:ext cx="11987840" cy="282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algn="l" defTabSz="825500">
              <a:lnSpc>
                <a:spcPct val="100000"/>
              </a:lnSpc>
              <a:defRPr spc="-28" sz="2800">
                <a:latin typeface="Arial"/>
                <a:ea typeface="Arial"/>
                <a:cs typeface="Arial"/>
                <a:sym typeface="Arial"/>
              </a:defRPr>
            </a:pPr>
            <a:r>
              <a:t>Сайт «Cook GO» предоставляет рецепты отсортированные в категории, что сильно облегчает поиск.</a:t>
            </a:r>
          </a:p>
          <a:p>
            <a:pPr algn="l" defTabSz="825500">
              <a:lnSpc>
                <a:spcPct val="100000"/>
              </a:lnSpc>
              <a:defRPr spc="-28" sz="2800">
                <a:latin typeface="Arial"/>
                <a:ea typeface="Arial"/>
                <a:cs typeface="Arial"/>
                <a:sym typeface="Arial"/>
              </a:defRPr>
            </a:pPr>
            <a:r>
              <a:t>Каждый рецепт имеет свою карточку с подробной информацией об нужных ингредиентах, сколько порций блюда будет, сколько времени займет приготовление блюда и сам рецепт детально расписан и имеет визуальное сопровождение</a:t>
            </a:r>
          </a:p>
        </p:txBody>
      </p:sp>
      <p:sp>
        <p:nvSpPr>
          <p:cNvPr id="163" name="Актуальность"/>
          <p:cNvSpPr/>
          <p:nvPr/>
        </p:nvSpPr>
        <p:spPr>
          <a:xfrm>
            <a:off x="-1016" y="-19304"/>
            <a:ext cx="15215594" cy="2207001"/>
          </a:xfrm>
          <a:prstGeom prst="rect">
            <a:avLst/>
          </a:prstGeom>
          <a:solidFill>
            <a:srgbClr val="DE673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b="1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Актуальность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Задачи"/>
          <p:cNvSpPr txBox="1"/>
          <p:nvPr>
            <p:ph type="body" idx="21"/>
          </p:nvPr>
        </p:nvSpPr>
        <p:spPr>
          <a:xfrm>
            <a:off x="15969953" y="4299435"/>
            <a:ext cx="3099468" cy="6057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17244">
              <a:defRPr b="1" spc="-35" sz="3564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Задачи</a:t>
            </a:r>
          </a:p>
        </p:txBody>
      </p:sp>
      <p:sp>
        <p:nvSpPr>
          <p:cNvPr id="166" name="Цель"/>
          <p:cNvSpPr txBox="1"/>
          <p:nvPr>
            <p:ph type="ctrTitle"/>
          </p:nvPr>
        </p:nvSpPr>
        <p:spPr>
          <a:xfrm>
            <a:off x="2866742" y="4250839"/>
            <a:ext cx="4036479" cy="702983"/>
          </a:xfrm>
          <a:prstGeom prst="rect">
            <a:avLst/>
          </a:prstGeom>
        </p:spPr>
        <p:txBody>
          <a:bodyPr/>
          <a:lstStyle>
            <a:lvl1pPr>
              <a:defRPr b="1" spc="-36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Цель</a:t>
            </a:r>
          </a:p>
        </p:txBody>
      </p:sp>
      <p:sp>
        <p:nvSpPr>
          <p:cNvPr id="167" name="Текст"/>
          <p:cNvSpPr txBox="1"/>
          <p:nvPr/>
        </p:nvSpPr>
        <p:spPr>
          <a:xfrm>
            <a:off x="15035784" y="-487427"/>
            <a:ext cx="1270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68" name="Текст"/>
          <p:cNvSpPr txBox="1"/>
          <p:nvPr/>
        </p:nvSpPr>
        <p:spPr>
          <a:xfrm>
            <a:off x="19208495" y="-804927"/>
            <a:ext cx="127001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u="sng"/>
          </a:p>
          <a:p>
            <a:pPr algn="l" defTabSz="457200">
              <a:lnSpc>
                <a:spcPct val="100000"/>
              </a:lnSpc>
              <a:defRPr sz="1600">
                <a:solidFill>
                  <a:srgbClr val="474747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474747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69" name="Цель и Задачи"/>
          <p:cNvSpPr/>
          <p:nvPr/>
        </p:nvSpPr>
        <p:spPr>
          <a:xfrm>
            <a:off x="-1016" y="-19304"/>
            <a:ext cx="24386033" cy="2207001"/>
          </a:xfrm>
          <a:prstGeom prst="rect">
            <a:avLst/>
          </a:prstGeom>
          <a:solidFill>
            <a:srgbClr val="DE673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b="1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Цель и Задачи</a:t>
            </a:r>
          </a:p>
        </p:txBody>
      </p:sp>
      <p:sp>
        <p:nvSpPr>
          <p:cNvPr id="170" name="Разработать интуитивно понятный…"/>
          <p:cNvSpPr/>
          <p:nvPr/>
        </p:nvSpPr>
        <p:spPr>
          <a:xfrm>
            <a:off x="1497318" y="5606177"/>
            <a:ext cx="6775327" cy="3438469"/>
          </a:xfrm>
          <a:prstGeom prst="roundRect">
            <a:avLst>
              <a:gd name="adj" fmla="val 14108"/>
            </a:avLst>
          </a:prstGeom>
          <a:solidFill>
            <a:srgbClr val="5F5F5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lnSpc>
                <a:spcPct val="100000"/>
              </a:lnSpc>
              <a:defRPr spc="-28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Разработать интуитивно понятный </a:t>
            </a:r>
          </a:p>
          <a:p>
            <a:pPr defTabSz="825500">
              <a:lnSpc>
                <a:spcPct val="100000"/>
              </a:lnSpc>
              <a:defRPr spc="-28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веб-сайт для поиска рецептов</a:t>
            </a:r>
          </a:p>
        </p:txBody>
      </p:sp>
      <p:sp>
        <p:nvSpPr>
          <p:cNvPr id="171" name="- 1 Сформулировать ТЗ;…"/>
          <p:cNvSpPr/>
          <p:nvPr/>
        </p:nvSpPr>
        <p:spPr>
          <a:xfrm>
            <a:off x="12416043" y="5606177"/>
            <a:ext cx="10470639" cy="3438469"/>
          </a:xfrm>
          <a:prstGeom prst="roundRect">
            <a:avLst>
              <a:gd name="adj" fmla="val 14108"/>
            </a:avLst>
          </a:prstGeom>
          <a:solidFill>
            <a:srgbClr val="5F5F5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just" defTabSz="825500">
              <a:lnSpc>
                <a:spcPct val="100000"/>
              </a:lnSpc>
              <a:defRPr spc="-28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- 1 Сформулировать ТЗ;</a:t>
            </a:r>
          </a:p>
          <a:p>
            <a:pPr algn="just" defTabSz="825500">
              <a:lnSpc>
                <a:spcPct val="100000"/>
              </a:lnSpc>
              <a:defRPr spc="-28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- 2 Спроектировать модели базы данных;</a:t>
            </a:r>
          </a:p>
          <a:p>
            <a:pPr algn="just" defTabSz="825500">
              <a:lnSpc>
                <a:spcPct val="100000"/>
              </a:lnSpc>
              <a:defRPr spc="-28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- 3 Разработать архитектуру, реализовать серверную часть;</a:t>
            </a:r>
          </a:p>
          <a:p>
            <a:pPr algn="just" defTabSz="825500">
              <a:lnSpc>
                <a:spcPct val="100000"/>
              </a:lnSpc>
              <a:defRPr spc="-28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- 4 Реализовать интерфейс;</a:t>
            </a:r>
          </a:p>
          <a:p>
            <a:pPr algn="just" defTabSz="825500">
              <a:lnSpc>
                <a:spcPct val="100000"/>
              </a:lnSpc>
              <a:defRPr spc="-28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- 5 Создать интерактивные модули;</a:t>
            </a:r>
          </a:p>
          <a:p>
            <a:pPr algn="just" defTabSz="825500">
              <a:lnSpc>
                <a:spcPct val="100000"/>
              </a:lnSpc>
              <a:defRPr spc="-28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- 6 Обеспечить надежность;</a:t>
            </a:r>
          </a:p>
        </p:txBody>
      </p:sp>
      <p:pic>
        <p:nvPicPr>
          <p:cNvPr id="172" name="Линия Линия" descr="Линия Линия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56511" y="7287311"/>
            <a:ext cx="3175667" cy="7620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Решение"/>
          <p:cNvSpPr txBox="1"/>
          <p:nvPr>
            <p:ph type="body" idx="21"/>
          </p:nvPr>
        </p:nvSpPr>
        <p:spPr>
          <a:xfrm>
            <a:off x="1244600" y="7998289"/>
            <a:ext cx="3099468" cy="6057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algn="l" defTabSz="817244">
              <a:defRPr b="1" spc="-35" sz="3564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Решение</a:t>
            </a:r>
          </a:p>
        </p:txBody>
      </p:sp>
      <p:sp>
        <p:nvSpPr>
          <p:cNvPr id="176" name="Проблема"/>
          <p:cNvSpPr txBox="1"/>
          <p:nvPr>
            <p:ph type="ctrTitle"/>
          </p:nvPr>
        </p:nvSpPr>
        <p:spPr>
          <a:xfrm>
            <a:off x="1243583" y="3896328"/>
            <a:ext cx="4036479" cy="702983"/>
          </a:xfrm>
          <a:prstGeom prst="rect">
            <a:avLst/>
          </a:prstGeom>
        </p:spPr>
        <p:txBody>
          <a:bodyPr/>
          <a:lstStyle>
            <a:lvl1pPr algn="l">
              <a:defRPr b="1" spc="-36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Проблема</a:t>
            </a:r>
          </a:p>
        </p:txBody>
      </p:sp>
      <p:sp>
        <p:nvSpPr>
          <p:cNvPr id="177" name="Текст"/>
          <p:cNvSpPr txBox="1"/>
          <p:nvPr/>
        </p:nvSpPr>
        <p:spPr>
          <a:xfrm>
            <a:off x="15035784" y="-487427"/>
            <a:ext cx="1270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78" name="Текст"/>
          <p:cNvSpPr txBox="1"/>
          <p:nvPr/>
        </p:nvSpPr>
        <p:spPr>
          <a:xfrm>
            <a:off x="19208495" y="-804927"/>
            <a:ext cx="127001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u="sng"/>
          </a:p>
          <a:p>
            <a:pPr algn="l" defTabSz="457200">
              <a:lnSpc>
                <a:spcPct val="100000"/>
              </a:lnSpc>
              <a:defRPr sz="1600">
                <a:solidFill>
                  <a:srgbClr val="474747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474747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79" name="Архитектура и стек технологий"/>
          <p:cNvSpPr/>
          <p:nvPr/>
        </p:nvSpPr>
        <p:spPr>
          <a:xfrm>
            <a:off x="-1016" y="-19304"/>
            <a:ext cx="24386033" cy="2207001"/>
          </a:xfrm>
          <a:prstGeom prst="rect">
            <a:avLst/>
          </a:prstGeom>
          <a:solidFill>
            <a:srgbClr val="DE673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b="1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Архитектура и стек технологий</a:t>
            </a:r>
          </a:p>
        </p:txBody>
      </p:sp>
      <p:sp>
        <p:nvSpPr>
          <p:cNvPr id="180" name="OpenServer"/>
          <p:cNvSpPr/>
          <p:nvPr/>
        </p:nvSpPr>
        <p:spPr>
          <a:xfrm>
            <a:off x="1169416" y="3808984"/>
            <a:ext cx="6443489" cy="4979632"/>
          </a:xfrm>
          <a:prstGeom prst="roundRect">
            <a:avLst>
              <a:gd name="adj" fmla="val 15000"/>
            </a:avLst>
          </a:prstGeom>
          <a:solidFill>
            <a:srgbClr val="5F5F5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OpenServer</a:t>
            </a:r>
          </a:p>
        </p:txBody>
      </p:sp>
      <p:sp>
        <p:nvSpPr>
          <p:cNvPr id="181" name="Visual Studio Code"/>
          <p:cNvSpPr/>
          <p:nvPr/>
        </p:nvSpPr>
        <p:spPr>
          <a:xfrm>
            <a:off x="8970256" y="3808984"/>
            <a:ext cx="6443489" cy="4979632"/>
          </a:xfrm>
          <a:prstGeom prst="roundRect">
            <a:avLst>
              <a:gd name="adj" fmla="val 15000"/>
            </a:avLst>
          </a:prstGeom>
          <a:solidFill>
            <a:srgbClr val="5F5F5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Visual Studio Code</a:t>
            </a:r>
          </a:p>
        </p:txBody>
      </p:sp>
      <p:sp>
        <p:nvSpPr>
          <p:cNvPr id="182" name="PhpMyAdmin"/>
          <p:cNvSpPr/>
          <p:nvPr/>
        </p:nvSpPr>
        <p:spPr>
          <a:xfrm>
            <a:off x="16771095" y="3808984"/>
            <a:ext cx="6443489" cy="4979632"/>
          </a:xfrm>
          <a:prstGeom prst="roundRect">
            <a:avLst>
              <a:gd name="adj" fmla="val 15000"/>
            </a:avLst>
          </a:prstGeom>
          <a:solidFill>
            <a:srgbClr val="5F5F5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PhpMyAdmin</a:t>
            </a:r>
          </a:p>
        </p:txBody>
      </p:sp>
      <p:sp>
        <p:nvSpPr>
          <p:cNvPr id="183" name="Клиентская часть: HTML, CSS, JavaScirpt"/>
          <p:cNvSpPr txBox="1"/>
          <p:nvPr/>
        </p:nvSpPr>
        <p:spPr>
          <a:xfrm>
            <a:off x="8656637" y="12040803"/>
            <a:ext cx="7070726" cy="496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Клиентская часть: HTML, CSS, JavaScirpt </a:t>
            </a:r>
          </a:p>
        </p:txBody>
      </p:sp>
      <p:sp>
        <p:nvSpPr>
          <p:cNvPr id="184" name="Локальный сервер"/>
          <p:cNvSpPr/>
          <p:nvPr/>
        </p:nvSpPr>
        <p:spPr>
          <a:xfrm>
            <a:off x="1169416" y="3765296"/>
            <a:ext cx="6443489" cy="1549401"/>
          </a:xfrm>
          <a:prstGeom prst="roundRect">
            <a:avLst>
              <a:gd name="adj" fmla="val 48209"/>
            </a:avLst>
          </a:prstGeom>
          <a:solidFill>
            <a:srgbClr val="DE673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Локальный сервер</a:t>
            </a:r>
          </a:p>
        </p:txBody>
      </p:sp>
      <p:sp>
        <p:nvSpPr>
          <p:cNvPr id="185" name="Редактор кода"/>
          <p:cNvSpPr/>
          <p:nvPr/>
        </p:nvSpPr>
        <p:spPr>
          <a:xfrm>
            <a:off x="8970256" y="3765296"/>
            <a:ext cx="6443489" cy="1549401"/>
          </a:xfrm>
          <a:prstGeom prst="roundRect">
            <a:avLst>
              <a:gd name="adj" fmla="val 48209"/>
            </a:avLst>
          </a:prstGeom>
          <a:solidFill>
            <a:srgbClr val="DE673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Редактор кода</a:t>
            </a:r>
          </a:p>
        </p:txBody>
      </p:sp>
      <p:sp>
        <p:nvSpPr>
          <p:cNvPr id="186" name="Управление БД"/>
          <p:cNvSpPr/>
          <p:nvPr/>
        </p:nvSpPr>
        <p:spPr>
          <a:xfrm>
            <a:off x="16771095" y="3765296"/>
            <a:ext cx="6443489" cy="1549401"/>
          </a:xfrm>
          <a:prstGeom prst="roundRect">
            <a:avLst>
              <a:gd name="adj" fmla="val 48209"/>
            </a:avLst>
          </a:prstGeom>
          <a:solidFill>
            <a:srgbClr val="DE673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Управление БД</a:t>
            </a:r>
          </a:p>
        </p:txBody>
      </p:sp>
      <p:pic>
        <p:nvPicPr>
          <p:cNvPr id="187" name="images.jpeg" descr="images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57401" y="9360704"/>
            <a:ext cx="1267518" cy="12675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Unknown.jpeg" descr="Unknown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558241" y="9360704"/>
            <a:ext cx="1267518" cy="12675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Unknown.png" descr="Unknown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806416" y="8808039"/>
            <a:ext cx="2372848" cy="23728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Прямоугольник"/>
          <p:cNvSpPr/>
          <p:nvPr/>
        </p:nvSpPr>
        <p:spPr>
          <a:xfrm>
            <a:off x="14270584" y="-19217"/>
            <a:ext cx="10194648" cy="13754434"/>
          </a:xfrm>
          <a:prstGeom prst="rect">
            <a:avLst/>
          </a:prstGeom>
          <a:solidFill>
            <a:srgbClr val="5F5F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192" name="Categories"/>
          <p:cNvSpPr txBox="1"/>
          <p:nvPr>
            <p:ph type="ctrTitle"/>
          </p:nvPr>
        </p:nvSpPr>
        <p:spPr>
          <a:xfrm>
            <a:off x="1243583" y="3820245"/>
            <a:ext cx="4036479" cy="702982"/>
          </a:xfrm>
          <a:prstGeom prst="rect">
            <a:avLst/>
          </a:prstGeom>
        </p:spPr>
        <p:txBody>
          <a:bodyPr/>
          <a:lstStyle>
            <a:lvl1pPr algn="l">
              <a:defRPr b="1" spc="-36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Categories</a:t>
            </a:r>
          </a:p>
        </p:txBody>
      </p:sp>
      <p:sp>
        <p:nvSpPr>
          <p:cNvPr id="193" name="Id, title, icon - Категории блюд"/>
          <p:cNvSpPr txBox="1"/>
          <p:nvPr>
            <p:ph type="subTitle" sz="quarter" idx="1"/>
          </p:nvPr>
        </p:nvSpPr>
        <p:spPr>
          <a:xfrm>
            <a:off x="1239011" y="4668350"/>
            <a:ext cx="11987840" cy="702982"/>
          </a:xfrm>
          <a:prstGeom prst="rect">
            <a:avLst/>
          </a:prstGeom>
        </p:spPr>
        <p:txBody>
          <a:bodyPr/>
          <a:lstStyle>
            <a:lvl1pPr algn="l">
              <a:defRPr spc="-28" sz="2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Id, title, icon - Категории блюд</a:t>
            </a:r>
          </a:p>
        </p:txBody>
      </p:sp>
      <p:sp>
        <p:nvSpPr>
          <p:cNvPr id="194" name="Текст"/>
          <p:cNvSpPr txBox="1"/>
          <p:nvPr/>
        </p:nvSpPr>
        <p:spPr>
          <a:xfrm>
            <a:off x="15035784" y="-487427"/>
            <a:ext cx="1270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pic>
        <p:nvPicPr>
          <p:cNvPr id="195" name="image9.png" descr="image9.png"/>
          <p:cNvPicPr>
            <a:picLocks noChangeAspect="1"/>
          </p:cNvPicPr>
          <p:nvPr/>
        </p:nvPicPr>
        <p:blipFill>
          <a:blip r:embed="rId2">
            <a:extLst/>
          </a:blip>
          <a:srcRect l="4761" t="0" r="4761" b="0"/>
          <a:stretch>
            <a:fillRect/>
          </a:stretch>
        </p:blipFill>
        <p:spPr>
          <a:xfrm>
            <a:off x="14778246" y="3585559"/>
            <a:ext cx="9179425" cy="6545074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Текст"/>
          <p:cNvSpPr txBox="1"/>
          <p:nvPr/>
        </p:nvSpPr>
        <p:spPr>
          <a:xfrm>
            <a:off x="19208495" y="-804927"/>
            <a:ext cx="127001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u="sng"/>
          </a:p>
          <a:p>
            <a:pPr algn="l" defTabSz="457200">
              <a:lnSpc>
                <a:spcPct val="100000"/>
              </a:lnSpc>
              <a:defRPr sz="1600">
                <a:solidFill>
                  <a:srgbClr val="474747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474747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97" name="Проектирование базы данных"/>
          <p:cNvSpPr/>
          <p:nvPr/>
        </p:nvSpPr>
        <p:spPr>
          <a:xfrm>
            <a:off x="-1016" y="-19304"/>
            <a:ext cx="14264685" cy="2207001"/>
          </a:xfrm>
          <a:prstGeom prst="rect">
            <a:avLst/>
          </a:prstGeom>
          <a:solidFill>
            <a:srgbClr val="DE673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b="1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Проектирование базы данных</a:t>
            </a:r>
          </a:p>
        </p:txBody>
      </p:sp>
      <p:sp>
        <p:nvSpPr>
          <p:cNvPr id="198" name="Recipes"/>
          <p:cNvSpPr txBox="1"/>
          <p:nvPr/>
        </p:nvSpPr>
        <p:spPr>
          <a:xfrm>
            <a:off x="1243583" y="5506966"/>
            <a:ext cx="4036479" cy="702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l">
              <a:lnSpc>
                <a:spcPct val="80000"/>
              </a:lnSpc>
              <a:defRPr b="1" spc="-36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Recipes</a:t>
            </a:r>
          </a:p>
        </p:txBody>
      </p:sp>
      <p:sp>
        <p:nvSpPr>
          <p:cNvPr id="199" name="Id, title, description, likes, caregory_id - Краткая информация о рецепте"/>
          <p:cNvSpPr txBox="1"/>
          <p:nvPr/>
        </p:nvSpPr>
        <p:spPr>
          <a:xfrm>
            <a:off x="1239011" y="6364560"/>
            <a:ext cx="11987840" cy="702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 defTabSz="825500">
              <a:lnSpc>
                <a:spcPct val="100000"/>
              </a:lnSpc>
              <a:defRPr spc="-28" sz="2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Id, title, description, likes, caregory_id - Краткая информация о рецепте</a:t>
            </a:r>
          </a:p>
        </p:txBody>
      </p:sp>
      <p:sp>
        <p:nvSpPr>
          <p:cNvPr id="200" name="Card_recipes"/>
          <p:cNvSpPr txBox="1"/>
          <p:nvPr/>
        </p:nvSpPr>
        <p:spPr>
          <a:xfrm>
            <a:off x="1243583" y="7222155"/>
            <a:ext cx="4036479" cy="702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l">
              <a:lnSpc>
                <a:spcPct val="80000"/>
              </a:lnSpc>
              <a:defRPr b="1" spc="-36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Card_recipes</a:t>
            </a:r>
          </a:p>
        </p:txBody>
      </p:sp>
      <p:sp>
        <p:nvSpPr>
          <p:cNvPr id="201" name="Id, ingridients, portions, time_for_cook, tutorial, images - Карточка рецепта"/>
          <p:cNvSpPr txBox="1"/>
          <p:nvPr/>
        </p:nvSpPr>
        <p:spPr>
          <a:xfrm>
            <a:off x="1239011" y="8079750"/>
            <a:ext cx="11987840" cy="702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 defTabSz="825500">
              <a:lnSpc>
                <a:spcPct val="100000"/>
              </a:lnSpc>
              <a:defRPr spc="-28" sz="2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Id, ingridients, portions, time_for_cook, tutorial, images - Карточка рецепта</a:t>
            </a:r>
          </a:p>
        </p:txBody>
      </p:sp>
      <p:sp>
        <p:nvSpPr>
          <p:cNvPr id="202" name="Users"/>
          <p:cNvSpPr txBox="1"/>
          <p:nvPr/>
        </p:nvSpPr>
        <p:spPr>
          <a:xfrm>
            <a:off x="1243583" y="8850549"/>
            <a:ext cx="4036479" cy="702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l">
              <a:lnSpc>
                <a:spcPct val="80000"/>
              </a:lnSpc>
              <a:defRPr b="1" spc="-36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203" name="Id, login, pass - Пользователи системы"/>
          <p:cNvSpPr txBox="1"/>
          <p:nvPr/>
        </p:nvSpPr>
        <p:spPr>
          <a:xfrm>
            <a:off x="1239011" y="9775960"/>
            <a:ext cx="11987840" cy="702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 defTabSz="825500">
              <a:lnSpc>
                <a:spcPct val="100000"/>
              </a:lnSpc>
              <a:defRPr spc="-28" sz="2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Id, login, pass - Пользователи системы</a:t>
            </a:r>
          </a:p>
        </p:txBody>
      </p:sp>
      <p:sp>
        <p:nvSpPr>
          <p:cNvPr id="204" name="User_likes"/>
          <p:cNvSpPr txBox="1"/>
          <p:nvPr/>
        </p:nvSpPr>
        <p:spPr>
          <a:xfrm>
            <a:off x="1243583" y="10478942"/>
            <a:ext cx="4036479" cy="702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l">
              <a:lnSpc>
                <a:spcPct val="80000"/>
              </a:lnSpc>
              <a:defRPr b="1" spc="-36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User_likes</a:t>
            </a:r>
          </a:p>
        </p:txBody>
      </p:sp>
      <p:sp>
        <p:nvSpPr>
          <p:cNvPr id="205" name="user_id, recipe_id - Связующая таблица для системы «Избранное»"/>
          <p:cNvSpPr txBox="1"/>
          <p:nvPr/>
        </p:nvSpPr>
        <p:spPr>
          <a:xfrm>
            <a:off x="1239011" y="11336537"/>
            <a:ext cx="11987840" cy="702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 defTabSz="825500">
              <a:lnSpc>
                <a:spcPct val="100000"/>
              </a:lnSpc>
              <a:defRPr spc="-28" sz="2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user_id, recipe_id - Связующая таблица для системы «Избранное»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Текст"/>
          <p:cNvSpPr txBox="1"/>
          <p:nvPr/>
        </p:nvSpPr>
        <p:spPr>
          <a:xfrm>
            <a:off x="15035784" y="-487427"/>
            <a:ext cx="1270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08" name="Текст"/>
          <p:cNvSpPr txBox="1"/>
          <p:nvPr/>
        </p:nvSpPr>
        <p:spPr>
          <a:xfrm>
            <a:off x="19208495" y="-804927"/>
            <a:ext cx="127001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u="sng"/>
          </a:p>
          <a:p>
            <a:pPr algn="l" defTabSz="457200">
              <a:lnSpc>
                <a:spcPct val="100000"/>
              </a:lnSpc>
              <a:defRPr sz="1600">
                <a:solidFill>
                  <a:srgbClr val="474747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474747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09" name="Структура веб-сайта и навигации"/>
          <p:cNvSpPr/>
          <p:nvPr/>
        </p:nvSpPr>
        <p:spPr>
          <a:xfrm>
            <a:off x="-1016" y="-19304"/>
            <a:ext cx="24386033" cy="2207001"/>
          </a:xfrm>
          <a:prstGeom prst="rect">
            <a:avLst/>
          </a:prstGeom>
          <a:solidFill>
            <a:srgbClr val="DE673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b="1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Структура веб-сайта и навигации</a:t>
            </a:r>
          </a:p>
        </p:txBody>
      </p:sp>
      <p:sp>
        <p:nvSpPr>
          <p:cNvPr id="210" name="Главная"/>
          <p:cNvSpPr/>
          <p:nvPr/>
        </p:nvSpPr>
        <p:spPr>
          <a:xfrm>
            <a:off x="1317310" y="4537800"/>
            <a:ext cx="3812580" cy="2207002"/>
          </a:xfrm>
          <a:prstGeom prst="roundRect">
            <a:avLst>
              <a:gd name="adj" fmla="val 15000"/>
            </a:avLst>
          </a:prstGeom>
          <a:solidFill>
            <a:srgbClr val="5F5F5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Главная</a:t>
            </a:r>
          </a:p>
        </p:txBody>
      </p:sp>
      <p:sp>
        <p:nvSpPr>
          <p:cNvPr id="211" name="Стрелка"/>
          <p:cNvSpPr/>
          <p:nvPr/>
        </p:nvSpPr>
        <p:spPr>
          <a:xfrm>
            <a:off x="5622228" y="5188425"/>
            <a:ext cx="958617" cy="905751"/>
          </a:xfrm>
          <a:prstGeom prst="rightArrow">
            <a:avLst>
              <a:gd name="adj1" fmla="val 29491"/>
              <a:gd name="adj2" fmla="val 61226"/>
            </a:avLst>
          </a:prstGeom>
          <a:solidFill>
            <a:srgbClr val="DE673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212" name="Категории"/>
          <p:cNvSpPr/>
          <p:nvPr/>
        </p:nvSpPr>
        <p:spPr>
          <a:xfrm>
            <a:off x="7199856" y="4537800"/>
            <a:ext cx="3812579" cy="2207002"/>
          </a:xfrm>
          <a:prstGeom prst="roundRect">
            <a:avLst>
              <a:gd name="adj" fmla="val 15000"/>
            </a:avLst>
          </a:prstGeom>
          <a:solidFill>
            <a:srgbClr val="5F5F5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Категории</a:t>
            </a:r>
          </a:p>
        </p:txBody>
      </p:sp>
      <p:sp>
        <p:nvSpPr>
          <p:cNvPr id="213" name="Стрелка"/>
          <p:cNvSpPr/>
          <p:nvPr/>
        </p:nvSpPr>
        <p:spPr>
          <a:xfrm>
            <a:off x="11441438" y="5188425"/>
            <a:ext cx="958616" cy="905751"/>
          </a:xfrm>
          <a:prstGeom prst="rightArrow">
            <a:avLst>
              <a:gd name="adj1" fmla="val 29491"/>
              <a:gd name="adj2" fmla="val 61226"/>
            </a:avLst>
          </a:prstGeom>
          <a:solidFill>
            <a:srgbClr val="DE673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214" name="Список рецептов категории"/>
          <p:cNvSpPr/>
          <p:nvPr/>
        </p:nvSpPr>
        <p:spPr>
          <a:xfrm>
            <a:off x="12829056" y="4537800"/>
            <a:ext cx="3975069" cy="2301063"/>
          </a:xfrm>
          <a:prstGeom prst="roundRect">
            <a:avLst>
              <a:gd name="adj" fmla="val 15000"/>
            </a:avLst>
          </a:prstGeom>
          <a:solidFill>
            <a:srgbClr val="5F5F5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Список рецептов категории</a:t>
            </a:r>
          </a:p>
        </p:txBody>
      </p:sp>
      <p:sp>
        <p:nvSpPr>
          <p:cNvPr id="215" name="Стрелка"/>
          <p:cNvSpPr/>
          <p:nvPr/>
        </p:nvSpPr>
        <p:spPr>
          <a:xfrm>
            <a:off x="17468564" y="5235456"/>
            <a:ext cx="958616" cy="905750"/>
          </a:xfrm>
          <a:prstGeom prst="rightArrow">
            <a:avLst>
              <a:gd name="adj1" fmla="val 29491"/>
              <a:gd name="adj2" fmla="val 61226"/>
            </a:avLst>
          </a:prstGeom>
          <a:solidFill>
            <a:srgbClr val="DE673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216" name="Карточка рецепт"/>
          <p:cNvSpPr/>
          <p:nvPr/>
        </p:nvSpPr>
        <p:spPr>
          <a:xfrm>
            <a:off x="19091620" y="4490769"/>
            <a:ext cx="3975069" cy="2301063"/>
          </a:xfrm>
          <a:prstGeom prst="roundRect">
            <a:avLst>
              <a:gd name="adj" fmla="val 15000"/>
            </a:avLst>
          </a:prstGeom>
          <a:solidFill>
            <a:srgbClr val="5F5F5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Карточка рецепт</a:t>
            </a:r>
          </a:p>
        </p:txBody>
      </p:sp>
      <p:sp>
        <p:nvSpPr>
          <p:cNvPr id="217" name="Карта навигации пользователя"/>
          <p:cNvSpPr txBox="1"/>
          <p:nvPr/>
        </p:nvSpPr>
        <p:spPr>
          <a:xfrm>
            <a:off x="9583229" y="3114565"/>
            <a:ext cx="5217543" cy="496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Карта навигации пользователя</a:t>
            </a:r>
          </a:p>
        </p:txBody>
      </p:sp>
      <p:sp>
        <p:nvSpPr>
          <p:cNvPr id="218" name="Особенности интерфейса"/>
          <p:cNvSpPr txBox="1"/>
          <p:nvPr/>
        </p:nvSpPr>
        <p:spPr>
          <a:xfrm>
            <a:off x="9986751" y="7808100"/>
            <a:ext cx="4410498" cy="496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Особенности интерфейса</a:t>
            </a:r>
          </a:p>
        </p:txBody>
      </p:sp>
      <p:sp>
        <p:nvSpPr>
          <p:cNvPr id="219" name="Header…"/>
          <p:cNvSpPr txBox="1"/>
          <p:nvPr/>
        </p:nvSpPr>
        <p:spPr>
          <a:xfrm>
            <a:off x="2598704" y="9367766"/>
            <a:ext cx="5026600" cy="219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Header</a:t>
            </a:r>
          </a:p>
          <a:p>
            <a:pPr>
              <a:defRPr b="1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sz="2800">
                <a:latin typeface="Arial"/>
                <a:ea typeface="Arial"/>
                <a:cs typeface="Arial"/>
                <a:sym typeface="Arial"/>
              </a:defRPr>
            </a:pPr>
            <a:r>
              <a:t>Динамически меняет кнопки «Вход/Регистрация» на «Выйти» после авторизации.</a:t>
            </a:r>
          </a:p>
        </p:txBody>
      </p:sp>
      <p:sp>
        <p:nvSpPr>
          <p:cNvPr id="220" name="Поиск…"/>
          <p:cNvSpPr txBox="1"/>
          <p:nvPr/>
        </p:nvSpPr>
        <p:spPr>
          <a:xfrm>
            <a:off x="9678700" y="9367766"/>
            <a:ext cx="5026601" cy="219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Поиск</a:t>
            </a:r>
          </a:p>
          <a:p>
            <a:pPr>
              <a:defRPr b="1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sz="2800">
                <a:latin typeface="Arial"/>
                <a:ea typeface="Arial"/>
                <a:cs typeface="Arial"/>
                <a:sym typeface="Arial"/>
              </a:defRPr>
            </a:pPr>
            <a:r>
              <a:t>Реализован по отдельности в разделах категории и внутри списка рецептов.</a:t>
            </a:r>
          </a:p>
        </p:txBody>
      </p:sp>
      <p:sp>
        <p:nvSpPr>
          <p:cNvPr id="221" name="Избранное…"/>
          <p:cNvSpPr txBox="1"/>
          <p:nvPr/>
        </p:nvSpPr>
        <p:spPr>
          <a:xfrm>
            <a:off x="16758696" y="9188965"/>
            <a:ext cx="5026600" cy="2560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Избранное</a:t>
            </a:r>
          </a:p>
          <a:p>
            <a:pPr>
              <a:defRPr b="1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sz="2800">
                <a:latin typeface="Arial"/>
                <a:ea typeface="Arial"/>
                <a:cs typeface="Arial"/>
                <a:sym typeface="Arial"/>
              </a:defRPr>
            </a:pPr>
            <a:r>
              <a:t>Авторизованный пользователь видит блок «Вам понравилось» прямо на главной странице.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Решение"/>
          <p:cNvSpPr txBox="1"/>
          <p:nvPr>
            <p:ph type="body" idx="21"/>
          </p:nvPr>
        </p:nvSpPr>
        <p:spPr>
          <a:xfrm>
            <a:off x="1244600" y="7998289"/>
            <a:ext cx="3099468" cy="6057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algn="l" defTabSz="817244">
              <a:defRPr b="1" spc="-35" sz="3564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Решение</a:t>
            </a:r>
          </a:p>
        </p:txBody>
      </p:sp>
      <p:sp>
        <p:nvSpPr>
          <p:cNvPr id="224" name="Главная"/>
          <p:cNvSpPr txBox="1"/>
          <p:nvPr>
            <p:ph type="ctrTitle"/>
          </p:nvPr>
        </p:nvSpPr>
        <p:spPr>
          <a:xfrm>
            <a:off x="15441812" y="5313325"/>
            <a:ext cx="2162846" cy="702982"/>
          </a:xfrm>
          <a:prstGeom prst="rect">
            <a:avLst/>
          </a:prstGeom>
        </p:spPr>
        <p:txBody>
          <a:bodyPr/>
          <a:lstStyle>
            <a:lvl1pPr algn="l">
              <a:defRPr b="1" spc="-36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Главная</a:t>
            </a:r>
          </a:p>
        </p:txBody>
      </p:sp>
      <p:sp>
        <p:nvSpPr>
          <p:cNvPr id="225" name="Интерфейс выдержан в светлых тонах с оранжевыми акцентами…"/>
          <p:cNvSpPr txBox="1"/>
          <p:nvPr>
            <p:ph type="subTitle" sz="quarter" idx="1"/>
          </p:nvPr>
        </p:nvSpPr>
        <p:spPr>
          <a:xfrm>
            <a:off x="10529316" y="6810219"/>
            <a:ext cx="11987839" cy="2299361"/>
          </a:xfrm>
          <a:prstGeom prst="rect">
            <a:avLst/>
          </a:prstGeom>
        </p:spPr>
        <p:txBody>
          <a:bodyPr/>
          <a:lstStyle/>
          <a:p>
            <a:pPr algn="l">
              <a:defRPr spc="-28" sz="2800">
                <a:latin typeface="Arial"/>
                <a:ea typeface="Arial"/>
                <a:cs typeface="Arial"/>
                <a:sym typeface="Arial"/>
              </a:defRPr>
            </a:pPr>
            <a:r>
              <a:t>Интерфейс выдержан в светлых тонах с оранжевыми акцентами</a:t>
            </a:r>
          </a:p>
          <a:p>
            <a:pPr algn="l">
              <a:defRPr spc="-28" sz="2800">
                <a:latin typeface="Arial"/>
                <a:ea typeface="Arial"/>
                <a:cs typeface="Arial"/>
                <a:sym typeface="Arial"/>
              </a:defRPr>
            </a:pPr>
            <a:r>
              <a:t>На Главном Окне нас встречает приветственное сообщение и в случае входа в аккаунт под приветственным текстом будут рецепты добавленные в «Избранное»</a:t>
            </a:r>
          </a:p>
        </p:txBody>
      </p:sp>
      <p:sp>
        <p:nvSpPr>
          <p:cNvPr id="226" name="Текст"/>
          <p:cNvSpPr txBox="1"/>
          <p:nvPr/>
        </p:nvSpPr>
        <p:spPr>
          <a:xfrm>
            <a:off x="15035784" y="-487427"/>
            <a:ext cx="1270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pic>
        <p:nvPicPr>
          <p:cNvPr id="227" name="счастливая-семья-наслаждается-приготовлением-пищи-на-кухне.jpg" descr="счастливая-семья-наслаждается-приготовлением-пищи-на-кухне.jpg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-161393" y="2164333"/>
            <a:ext cx="7727473" cy="11591213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Текст"/>
          <p:cNvSpPr txBox="1"/>
          <p:nvPr/>
        </p:nvSpPr>
        <p:spPr>
          <a:xfrm>
            <a:off x="19208495" y="-804927"/>
            <a:ext cx="127001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u="sng"/>
          </a:p>
          <a:p>
            <a:pPr algn="l" defTabSz="457200">
              <a:lnSpc>
                <a:spcPct val="100000"/>
              </a:lnSpc>
              <a:defRPr sz="1600">
                <a:solidFill>
                  <a:srgbClr val="474747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474747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29" name="Интерфейс"/>
          <p:cNvSpPr/>
          <p:nvPr/>
        </p:nvSpPr>
        <p:spPr>
          <a:xfrm>
            <a:off x="-1016" y="-19304"/>
            <a:ext cx="24386033" cy="2207001"/>
          </a:xfrm>
          <a:prstGeom prst="rect">
            <a:avLst/>
          </a:prstGeom>
          <a:solidFill>
            <a:srgbClr val="DE673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b="1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Интерфейс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Решение"/>
          <p:cNvSpPr txBox="1"/>
          <p:nvPr>
            <p:ph type="body" idx="21"/>
          </p:nvPr>
        </p:nvSpPr>
        <p:spPr>
          <a:xfrm>
            <a:off x="1244600" y="7998289"/>
            <a:ext cx="3099468" cy="6057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algn="l" defTabSz="817244">
              <a:defRPr b="1" spc="-35" sz="3564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Решение</a:t>
            </a:r>
          </a:p>
        </p:txBody>
      </p:sp>
      <p:sp>
        <p:nvSpPr>
          <p:cNvPr id="232" name="Категории"/>
          <p:cNvSpPr txBox="1"/>
          <p:nvPr>
            <p:ph type="ctrTitle"/>
          </p:nvPr>
        </p:nvSpPr>
        <p:spPr>
          <a:xfrm>
            <a:off x="15441812" y="5313325"/>
            <a:ext cx="2506103" cy="702982"/>
          </a:xfrm>
          <a:prstGeom prst="rect">
            <a:avLst/>
          </a:prstGeom>
        </p:spPr>
        <p:txBody>
          <a:bodyPr/>
          <a:lstStyle>
            <a:lvl1pPr algn="l">
              <a:defRPr b="1" spc="-36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Категории</a:t>
            </a:r>
          </a:p>
        </p:txBody>
      </p:sp>
      <p:sp>
        <p:nvSpPr>
          <p:cNvPr id="233" name="Категории представлены в виде квадратных карточек с названием сверху и визуальным изображением категории."/>
          <p:cNvSpPr txBox="1"/>
          <p:nvPr>
            <p:ph type="subTitle" sz="quarter" idx="1"/>
          </p:nvPr>
        </p:nvSpPr>
        <p:spPr>
          <a:xfrm>
            <a:off x="10529316" y="6810219"/>
            <a:ext cx="11987839" cy="2299361"/>
          </a:xfrm>
          <a:prstGeom prst="rect">
            <a:avLst/>
          </a:prstGeom>
        </p:spPr>
        <p:txBody>
          <a:bodyPr/>
          <a:lstStyle>
            <a:lvl1pPr algn="l">
              <a:defRPr spc="-28" sz="2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Категории представлены в виде квадратных карточек с названием сверху и визуальным изображением категории.</a:t>
            </a:r>
          </a:p>
        </p:txBody>
      </p:sp>
      <p:sp>
        <p:nvSpPr>
          <p:cNvPr id="234" name="Текст"/>
          <p:cNvSpPr txBox="1"/>
          <p:nvPr/>
        </p:nvSpPr>
        <p:spPr>
          <a:xfrm>
            <a:off x="15035784" y="-487427"/>
            <a:ext cx="1270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pic>
        <p:nvPicPr>
          <p:cNvPr id="235" name="счастливая-семья-наслаждается-приготовлением-пищи-на-кухне.jpg" descr="счастливая-семья-наслаждается-приготовлением-пищи-на-кухне.jpg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-161393" y="2164333"/>
            <a:ext cx="7727473" cy="11591213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Текст"/>
          <p:cNvSpPr txBox="1"/>
          <p:nvPr/>
        </p:nvSpPr>
        <p:spPr>
          <a:xfrm>
            <a:off x="19208495" y="-804927"/>
            <a:ext cx="127001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u="sng"/>
          </a:p>
          <a:p>
            <a:pPr algn="l" defTabSz="457200">
              <a:lnSpc>
                <a:spcPct val="100000"/>
              </a:lnSpc>
              <a:defRPr sz="1600">
                <a:solidFill>
                  <a:srgbClr val="474747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474747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37" name="Интерфейс"/>
          <p:cNvSpPr/>
          <p:nvPr/>
        </p:nvSpPr>
        <p:spPr>
          <a:xfrm>
            <a:off x="-1016" y="-19304"/>
            <a:ext cx="24386033" cy="2207001"/>
          </a:xfrm>
          <a:prstGeom prst="rect">
            <a:avLst/>
          </a:prstGeom>
          <a:solidFill>
            <a:srgbClr val="DE673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b="1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Интерфейс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Решение"/>
          <p:cNvSpPr txBox="1"/>
          <p:nvPr>
            <p:ph type="body" idx="21"/>
          </p:nvPr>
        </p:nvSpPr>
        <p:spPr>
          <a:xfrm>
            <a:off x="1244600" y="7998289"/>
            <a:ext cx="3099468" cy="6057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algn="l" defTabSz="817244">
              <a:defRPr b="1" spc="-35" sz="3564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Решение</a:t>
            </a:r>
          </a:p>
        </p:txBody>
      </p:sp>
      <p:sp>
        <p:nvSpPr>
          <p:cNvPr id="240" name="Рецепты и Карточка Рецепта"/>
          <p:cNvSpPr txBox="1"/>
          <p:nvPr>
            <p:ph type="ctrTitle"/>
          </p:nvPr>
        </p:nvSpPr>
        <p:spPr>
          <a:xfrm>
            <a:off x="8920726" y="3315709"/>
            <a:ext cx="6542548" cy="702982"/>
          </a:xfrm>
          <a:prstGeom prst="rect">
            <a:avLst/>
          </a:prstGeom>
        </p:spPr>
        <p:txBody>
          <a:bodyPr/>
          <a:lstStyle>
            <a:lvl1pPr algn="l">
              <a:defRPr b="1" spc="-36" sz="3600">
                <a:solidFill>
                  <a:srgbClr val="DE67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Рецепты и Карточка Рецепта</a:t>
            </a:r>
          </a:p>
        </p:txBody>
      </p:sp>
      <p:sp>
        <p:nvSpPr>
          <p:cNvPr id="241" name="При переходе на категорию появляются соответствующие рецепты. Каждая плашка рецепта имеет Название, Изображение, Краткое описание и Количество лайков.…"/>
          <p:cNvSpPr txBox="1"/>
          <p:nvPr>
            <p:ph type="subTitle" sz="quarter" idx="1"/>
          </p:nvPr>
        </p:nvSpPr>
        <p:spPr>
          <a:xfrm>
            <a:off x="8920726" y="5146702"/>
            <a:ext cx="6542548" cy="5626395"/>
          </a:xfrm>
          <a:prstGeom prst="rect">
            <a:avLst/>
          </a:prstGeom>
        </p:spPr>
        <p:txBody>
          <a:bodyPr/>
          <a:lstStyle/>
          <a:p>
            <a:pPr algn="l" defTabSz="792479">
              <a:defRPr spc="-26" sz="2688">
                <a:latin typeface="Arial"/>
                <a:ea typeface="Arial"/>
                <a:cs typeface="Arial"/>
                <a:sym typeface="Arial"/>
              </a:defRPr>
            </a:pPr>
            <a:r>
              <a:t>При переходе на категорию появляются соответствующие рецепты. Каждая плашка рецепта имеет Название, Изображение, Краткое описание и Количество лайков.</a:t>
            </a:r>
          </a:p>
          <a:p>
            <a:pPr algn="l" defTabSz="792479">
              <a:defRPr spc="-26" sz="2688">
                <a:latin typeface="Arial"/>
                <a:ea typeface="Arial"/>
                <a:cs typeface="Arial"/>
                <a:sym typeface="Arial"/>
              </a:defRPr>
            </a:pPr>
          </a:p>
          <a:p>
            <a:pPr algn="l" defTabSz="792479">
              <a:defRPr spc="-26" sz="2688">
                <a:latin typeface="Arial"/>
                <a:ea typeface="Arial"/>
                <a:cs typeface="Arial"/>
                <a:sym typeface="Arial"/>
              </a:defRPr>
            </a:pPr>
            <a:r>
              <a:t>При переходе на рецепт появляется карточка рецепта, которая имеет Изображение блюда, Название, Описание, Ингредиенты, Время приготовления, Количество порций, Количество лайков и Сам рецепт сопровождаемый визуальными изображениями</a:t>
            </a:r>
          </a:p>
        </p:txBody>
      </p:sp>
      <p:sp>
        <p:nvSpPr>
          <p:cNvPr id="242" name="Текст"/>
          <p:cNvSpPr txBox="1"/>
          <p:nvPr/>
        </p:nvSpPr>
        <p:spPr>
          <a:xfrm>
            <a:off x="15035784" y="-487427"/>
            <a:ext cx="1270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pic>
        <p:nvPicPr>
          <p:cNvPr id="243" name="счастливая-семья-наслаждается-приготовлением-пищи-на-кухне.jpg" descr="счастливая-семья-наслаждается-приготовлением-пищи-на-кухне.jpg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-161393" y="2164333"/>
            <a:ext cx="7727473" cy="11591213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Текст"/>
          <p:cNvSpPr txBox="1"/>
          <p:nvPr/>
        </p:nvSpPr>
        <p:spPr>
          <a:xfrm>
            <a:off x="19208495" y="-804927"/>
            <a:ext cx="127001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u="sng"/>
          </a:p>
          <a:p>
            <a:pPr algn="l" defTabSz="457200">
              <a:lnSpc>
                <a:spcPct val="100000"/>
              </a:lnSpc>
              <a:defRPr sz="1600">
                <a:solidFill>
                  <a:srgbClr val="474747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474747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algn="l" defTabSz="457200">
              <a:lnSpc>
                <a:spcPct val="100000"/>
              </a:lnSpc>
              <a:defRPr sz="1600">
                <a:solidFill>
                  <a:srgbClr val="02A388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45" name="Интерфейс"/>
          <p:cNvSpPr/>
          <p:nvPr/>
        </p:nvSpPr>
        <p:spPr>
          <a:xfrm>
            <a:off x="-1016" y="-19304"/>
            <a:ext cx="24386033" cy="2207001"/>
          </a:xfrm>
          <a:prstGeom prst="rect">
            <a:avLst/>
          </a:prstGeom>
          <a:solidFill>
            <a:srgbClr val="DE673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b="1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Интерфейс</a:t>
            </a:r>
          </a:p>
        </p:txBody>
      </p:sp>
      <p:pic>
        <p:nvPicPr>
          <p:cNvPr id="246" name="счастливая-семья-наслаждается-приготовлением-пищи-на-кухне.jpg" descr="счастливая-семья-наслаждается-приготовлением-пищи-на-кухне.jpg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6817838" y="2164333"/>
            <a:ext cx="7727474" cy="115912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Бускаров Александр ИСИП 23/1"/>
          <p:cNvSpPr txBox="1"/>
          <p:nvPr>
            <p:ph type="body" idx="21"/>
          </p:nvPr>
        </p:nvSpPr>
        <p:spPr>
          <a:xfrm>
            <a:off x="1219200" y="12173013"/>
            <a:ext cx="21945599" cy="6057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668655">
              <a:defRPr spc="-29" sz="2916"/>
            </a:lvl1pPr>
          </a:lstStyle>
          <a:p>
            <a:pPr/>
            <a:r>
              <a:t>Бускаров Александр ИСИП 23/1</a:t>
            </a:r>
          </a:p>
        </p:txBody>
      </p:sp>
      <p:sp>
        <p:nvSpPr>
          <p:cNvPr id="249" name="Курсовая Работа «Cook GO»"/>
          <p:cNvSpPr txBox="1"/>
          <p:nvPr>
            <p:ph type="ctrTitle"/>
          </p:nvPr>
        </p:nvSpPr>
        <p:spPr>
          <a:xfrm>
            <a:off x="7667468" y="5878159"/>
            <a:ext cx="9049065" cy="971104"/>
          </a:xfrm>
          <a:prstGeom prst="rect">
            <a:avLst/>
          </a:prstGeom>
        </p:spPr>
        <p:txBody>
          <a:bodyPr/>
          <a:lstStyle>
            <a:lvl1pPr>
              <a:defRPr b="1" spc="-44" sz="4400">
                <a:solidFill>
                  <a:srgbClr val="DE6734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Курсовая Работа «Cook GO»</a:t>
            </a:r>
          </a:p>
        </p:txBody>
      </p:sp>
      <p:sp>
        <p:nvSpPr>
          <p:cNvPr id="250" name="Министерство образования и науки Республики Саха(Якутия) ГАПОУ РС(Я) «Якутский колледж связи и информационных технологий имени П.И. Дудкина»"/>
          <p:cNvSpPr txBox="1"/>
          <p:nvPr>
            <p:ph type="subTitle" sz="quarter" idx="1"/>
          </p:nvPr>
        </p:nvSpPr>
        <p:spPr>
          <a:xfrm>
            <a:off x="1219200" y="981096"/>
            <a:ext cx="21945600" cy="2250593"/>
          </a:xfrm>
          <a:prstGeom prst="rect">
            <a:avLst/>
          </a:prstGeom>
        </p:spPr>
        <p:txBody>
          <a:bodyPr/>
          <a:lstStyle>
            <a:lvl1pPr>
              <a:defRPr spc="-36" sz="36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Министерство образования и науки Республики Саха(Якутия) ГАПОУ РС(Я) «Якутский колледж связи и информационных технологий имени П.И. Дудкина»</a:t>
            </a:r>
          </a:p>
        </p:txBody>
      </p:sp>
      <p:sp>
        <p:nvSpPr>
          <p:cNvPr id="251" name="Проектирование и разработка сайта для поиска кулинарных рецептов"/>
          <p:cNvSpPr txBox="1"/>
          <p:nvPr/>
        </p:nvSpPr>
        <p:spPr>
          <a:xfrm>
            <a:off x="1219200" y="7275950"/>
            <a:ext cx="21945600" cy="225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36" sz="36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Проектирование и разработка сайта для поиска кулинарных рецептов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